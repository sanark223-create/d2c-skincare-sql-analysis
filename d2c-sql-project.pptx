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17" r:id="rId1"/>
  </p:sldMasterIdLst>
  <p:sldIdLst>
    <p:sldId id="259" r:id="rId2"/>
    <p:sldId id="258" r:id="rId3"/>
    <p:sldId id="260" r:id="rId4"/>
    <p:sldId id="261" r:id="rId5"/>
    <p:sldId id="262" r:id="rId6"/>
    <p:sldId id="280" r:id="rId7"/>
    <p:sldId id="264" r:id="rId8"/>
    <p:sldId id="281" r:id="rId9"/>
    <p:sldId id="263" r:id="rId10"/>
    <p:sldId id="265" r:id="rId11"/>
    <p:sldId id="282" r:id="rId12"/>
    <p:sldId id="266" r:id="rId13"/>
    <p:sldId id="267" r:id="rId14"/>
    <p:sldId id="283" r:id="rId15"/>
    <p:sldId id="268" r:id="rId16"/>
    <p:sldId id="284" r:id="rId17"/>
    <p:sldId id="269" r:id="rId18"/>
    <p:sldId id="270" r:id="rId19"/>
    <p:sldId id="271" r:id="rId20"/>
    <p:sldId id="285" r:id="rId21"/>
    <p:sldId id="279" r:id="rId22"/>
  </p:sldIdLst>
  <p:sldSz cx="12192000" cy="6858000"/>
  <p:notesSz cx="6858000" cy="9144000"/>
  <p:embeddedFontLst>
    <p:embeddedFont>
      <p:font typeface="Arial Black" panose="020B0A04020102020204" pitchFamily="34" charset="0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8AC3AB-A8CA-4234-84AF-5325A01AF8B9}">
          <p14:sldIdLst>
            <p14:sldId id="259"/>
            <p14:sldId id="258"/>
            <p14:sldId id="260"/>
            <p14:sldId id="261"/>
          </p14:sldIdLst>
        </p14:section>
        <p14:section name="Untitled Section" id="{682A2988-5078-4830-A0D8-E94B5695CD83}">
          <p14:sldIdLst>
            <p14:sldId id="262"/>
            <p14:sldId id="280"/>
            <p14:sldId id="264"/>
            <p14:sldId id="281"/>
            <p14:sldId id="263"/>
            <p14:sldId id="265"/>
            <p14:sldId id="282"/>
            <p14:sldId id="266"/>
            <p14:sldId id="267"/>
            <p14:sldId id="283"/>
            <p14:sldId id="268"/>
            <p14:sldId id="284"/>
            <p14:sldId id="269"/>
            <p14:sldId id="270"/>
            <p14:sldId id="271"/>
            <p14:sldId id="285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A147"/>
    <a:srgbClr val="B54C2D"/>
    <a:srgbClr val="B66952"/>
    <a:srgbClr val="B56D45"/>
    <a:srgbClr val="DF98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247A6F-F0C7-415B-A561-D95AA4D42A56}" v="1" dt="2026-08-08T00:36:07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55" d="100"/>
          <a:sy n="55" d="100"/>
        </p:scale>
        <p:origin x="1699" y="9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3C5D3-810A-43EC-6A53-D9EF0C808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61985-A569-2525-3EEB-8227C6A3A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91A14-39A9-F0E9-E071-BC356D6E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93240-0D6E-194B-BD2A-726FD992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D150A-0881-A467-3BD5-716D9F9C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498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3681-07F2-9B74-A731-137B2390B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7B661-7FE6-9488-7E77-5265006B7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229BB-DFE0-82A1-63BA-31450B36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DF380-FDA9-E033-A306-EB71D0AF9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F0A85-03A8-3A39-B4F2-EF5542DF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361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AFCE9-57ED-226F-BE15-06EA4FAA6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54F40-65AA-E9E5-FFE5-4AEEABE3E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A8726-9FD3-3249-C26F-F812A005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367EB-4684-5866-F1A7-59088C5B5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FC6EA-EC79-A251-D5B5-7894A7BE3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503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4AB5A-2C86-34D9-CFBF-7F15981A6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0B41-961C-94AA-CCCD-A304ECE3E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EC68EB-3780-6C2F-3D95-EA30B9CED4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16E7B-41E4-3E36-0368-EDA4F8C72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7E413D-4D73-44BA-B40F-5AFDB0C27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50F16-8E02-0ACC-697B-108675C8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3448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00E3D-FFFA-BA70-888C-685191D15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D0377-F046-1690-C7CB-EDAAB6A6B7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B66FB-71AE-B0DC-AFD5-0A19DB1463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33F43-D89E-8F82-9CA1-6DE350E801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E93A30-0CB1-5EC8-4226-720D88D588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6505F-ED57-A5E7-4866-E9701AB70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6D63B-55DD-1B86-CE38-45E05CB4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6E1880-ACB7-1C44-7DA3-B211103B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345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8732-8AFD-1BF8-1850-2DD23C243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FC01B-3C28-4AEA-A9BD-C82F6E463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6544A-14CF-41E7-B85D-1E363D23B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CFCC38-1287-C299-DD64-903BA5F95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19584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B93607-D2F9-925E-BD9C-1537052AE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D3DAD3-1761-9C79-F096-BC4E562A9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B0DCDA-469E-6942-A639-AB316B665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87952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1426F-9912-E78D-19F1-2B49B50B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82FA2-4976-ABD1-37F4-6BAB71CE0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9D7AA4-0FE6-F62F-BE60-0D73B3DFE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D58CD4-30DD-445A-4A64-6C838FC60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856707-4C97-2839-DB2E-AC034F78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A8BD7F-B057-A366-D6D1-144A073F9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8267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47158-3CC3-DC66-DE14-58B3A5902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37729E-4A09-B259-9A42-61CF24CDCB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6BC15-AEB7-9180-B7DC-644C68BBD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19B1D-3BB3-8B32-4FD2-139B88007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268384-8753-7E61-D886-0C09CA21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9757D-B054-593C-6202-BB83914CE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165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EB892-8981-181C-9B1F-41ED70E12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2FF9B-C48A-61CB-D23E-B5B18ACC7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460B2-7D3E-B54A-84BF-276BF47A7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BD9944-8593-4718-49B7-8A27C45EB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EE8F9-6B0F-3387-2F68-C793346AC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5256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BC176-452E-00AC-5D93-12E4922749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60DB9-32E9-F2F2-61AD-E43A49F29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1D33-405D-E59F-33EF-522D4CA51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3139B-2002-A54D-EE86-D7F6A045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D04AB-5B7B-F814-9FBA-D7FDBA39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776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CDF58C-071D-6305-AFE8-9F036039C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695FF-4168-3312-501B-F02F9243F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B6348-26C2-BCDF-4DCD-A953297BB1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3ED0CC-082F-4160-86E5-0D6041F12778}" type="datetime1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B1F8A8-E180-66F9-6A53-7BFDC5629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8F269-B028-A0BA-CF76-37CF9E3743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98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9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sv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svg"/><Relationship Id="rId7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sv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3.svg"/><Relationship Id="rId7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0.sv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svg"/><Relationship Id="rId7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10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.svg"/><Relationship Id="rId7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10.sv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10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9A04889E-101F-933B-5477-0E702F31E111}"/>
              </a:ext>
            </a:extLst>
          </p:cNvPr>
          <p:cNvGrpSpPr/>
          <p:nvPr/>
        </p:nvGrpSpPr>
        <p:grpSpPr>
          <a:xfrm>
            <a:off x="-284480" y="-213360"/>
            <a:ext cx="12476480" cy="7082154"/>
            <a:chOff x="0" y="-10794"/>
            <a:chExt cx="12192000" cy="6868794"/>
          </a:xfrm>
        </p:grpSpPr>
        <p:sp>
          <p:nvSpPr>
            <p:cNvPr id="6" name="矩形 4">
              <a:extLst>
                <a:ext uri="{FF2B5EF4-FFF2-40B4-BE49-F238E27FC236}">
                  <a16:creationId xmlns:a16="http://schemas.microsoft.com/office/drawing/2014/main" id="{4F7D1947-D5A0-1A4C-5B15-1F8FAF59C0E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7" name="图形 22">
              <a:extLst>
                <a:ext uri="{FF2B5EF4-FFF2-40B4-BE49-F238E27FC236}">
                  <a16:creationId xmlns:a16="http://schemas.microsoft.com/office/drawing/2014/main" id="{47AA57FB-01C1-403A-D864-9C1609E18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8" name="图形 21">
              <a:extLst>
                <a:ext uri="{FF2B5EF4-FFF2-40B4-BE49-F238E27FC236}">
                  <a16:creationId xmlns:a16="http://schemas.microsoft.com/office/drawing/2014/main" id="{AFB6D0F1-3361-92DD-E82F-ACDE5EFB94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9" name="矩形: 圆角 6">
              <a:extLst>
                <a:ext uri="{FF2B5EF4-FFF2-40B4-BE49-F238E27FC236}">
                  <a16:creationId xmlns:a16="http://schemas.microsoft.com/office/drawing/2014/main" id="{55C95DAB-2BDE-377A-E119-69D228756CC5}"/>
                </a:ext>
              </a:extLst>
            </p:cNvPr>
            <p:cNvSpPr/>
            <p:nvPr/>
          </p:nvSpPr>
          <p:spPr>
            <a:xfrm>
              <a:off x="280736" y="165669"/>
              <a:ext cx="11590421" cy="6472989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3"/>
              <a:endParaRPr lang="zh-CN" altLang="en-US" i="1" dirty="0">
                <a:solidFill>
                  <a:schemeClr val="tx1"/>
                </a:solidFill>
                <a:latin typeface="Arial Black" panose="020B0A04020102020204" pitchFamily="34" charset="0"/>
                <a:cs typeface="Mona-Sans Black Italic" pitchFamily="2" charset="0"/>
              </a:endParaRPr>
            </a:p>
          </p:txBody>
        </p:sp>
      </p:grpSp>
      <p:grpSp>
        <p:nvGrpSpPr>
          <p:cNvPr id="11" name="组合 40">
            <a:extLst>
              <a:ext uri="{FF2B5EF4-FFF2-40B4-BE49-F238E27FC236}">
                <a16:creationId xmlns:a16="http://schemas.microsoft.com/office/drawing/2014/main" id="{98CF9493-54EF-ECE6-F091-1D95A06EC6E8}"/>
              </a:ext>
            </a:extLst>
          </p:cNvPr>
          <p:cNvGrpSpPr/>
          <p:nvPr/>
        </p:nvGrpSpPr>
        <p:grpSpPr>
          <a:xfrm>
            <a:off x="6304969" y="727294"/>
            <a:ext cx="5449216" cy="5146738"/>
            <a:chOff x="5096462" y="614812"/>
            <a:chExt cx="6334581" cy="5982959"/>
          </a:xfrm>
        </p:grpSpPr>
        <p:pic>
          <p:nvPicPr>
            <p:cNvPr id="12" name="图形 17">
              <a:extLst>
                <a:ext uri="{FF2B5EF4-FFF2-40B4-BE49-F238E27FC236}">
                  <a16:creationId xmlns:a16="http://schemas.microsoft.com/office/drawing/2014/main" id="{B61354AF-546D-C2A2-857F-3AC28D1C2F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40686" y="614812"/>
              <a:ext cx="3890357" cy="5493657"/>
            </a:xfrm>
            <a:prstGeom prst="rect">
              <a:avLst/>
            </a:prstGeom>
          </p:spPr>
        </p:pic>
        <p:pic>
          <p:nvPicPr>
            <p:cNvPr id="13" name="图形 39">
              <a:extLst>
                <a:ext uri="{FF2B5EF4-FFF2-40B4-BE49-F238E27FC236}">
                  <a16:creationId xmlns:a16="http://schemas.microsoft.com/office/drawing/2014/main" id="{01EB5663-1DBB-31C8-739D-B8693168F2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096462" y="2488200"/>
              <a:ext cx="3950748" cy="4109571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B4FAE0-30A4-0976-7E62-E965EB057A26}"/>
              </a:ext>
            </a:extLst>
          </p:cNvPr>
          <p:cNvGrpSpPr/>
          <p:nvPr/>
        </p:nvGrpSpPr>
        <p:grpSpPr>
          <a:xfrm>
            <a:off x="509613" y="435120"/>
            <a:ext cx="425559" cy="425559"/>
            <a:chOff x="1066078" y="5214690"/>
            <a:chExt cx="425559" cy="425559"/>
          </a:xfrm>
        </p:grpSpPr>
        <p:sp>
          <p:nvSpPr>
            <p:cNvPr id="15" name="椭圆 65">
              <a:extLst>
                <a:ext uri="{FF2B5EF4-FFF2-40B4-BE49-F238E27FC236}">
                  <a16:creationId xmlns:a16="http://schemas.microsoft.com/office/drawing/2014/main" id="{B361081C-60F7-7A7C-C1FD-E445F8CD54C0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F995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16" name="Oval 53">
              <a:extLst>
                <a:ext uri="{FF2B5EF4-FFF2-40B4-BE49-F238E27FC236}">
                  <a16:creationId xmlns:a16="http://schemas.microsoft.com/office/drawing/2014/main" id="{D369C62F-4564-9C7E-4280-841AEB25C8C8}"/>
                </a:ext>
              </a:extLst>
            </p:cNvPr>
            <p:cNvSpPr/>
            <p:nvPr/>
          </p:nvSpPr>
          <p:spPr>
            <a:xfrm>
              <a:off x="1177022" y="5321080"/>
              <a:ext cx="203669" cy="212779"/>
            </a:xfrm>
            <a:custGeom>
              <a:avLst/>
              <a:gdLst>
                <a:gd name="connsiteX0" fmla="*/ 253679 w 510088"/>
                <a:gd name="connsiteY0" fmla="*/ 352010 h 532904"/>
                <a:gd name="connsiteX1" fmla="*/ 274110 w 510088"/>
                <a:gd name="connsiteY1" fmla="*/ 371777 h 532904"/>
                <a:gd name="connsiteX2" fmla="*/ 253679 w 510088"/>
                <a:gd name="connsiteY2" fmla="*/ 391543 h 532904"/>
                <a:gd name="connsiteX3" fmla="*/ 233296 w 510088"/>
                <a:gd name="connsiteY3" fmla="*/ 371777 h 532904"/>
                <a:gd name="connsiteX4" fmla="*/ 253679 w 510088"/>
                <a:gd name="connsiteY4" fmla="*/ 352010 h 532904"/>
                <a:gd name="connsiteX5" fmla="*/ 256585 w 510088"/>
                <a:gd name="connsiteY5" fmla="*/ 157728 h 532904"/>
                <a:gd name="connsiteX6" fmla="*/ 307018 w 510088"/>
                <a:gd name="connsiteY6" fmla="*/ 176399 h 532904"/>
                <a:gd name="connsiteX7" fmla="*/ 327020 w 510088"/>
                <a:gd name="connsiteY7" fmla="*/ 222695 h 532904"/>
                <a:gd name="connsiteX8" fmla="*/ 320829 w 510088"/>
                <a:gd name="connsiteY8" fmla="*/ 248463 h 532904"/>
                <a:gd name="connsiteX9" fmla="*/ 296112 w 510088"/>
                <a:gd name="connsiteY9" fmla="*/ 275850 h 532904"/>
                <a:gd name="connsiteX10" fmla="*/ 273491 w 510088"/>
                <a:gd name="connsiteY10" fmla="*/ 300713 h 532904"/>
                <a:gd name="connsiteX11" fmla="*/ 270062 w 510088"/>
                <a:gd name="connsiteY11" fmla="*/ 317193 h 532904"/>
                <a:gd name="connsiteX12" fmla="*/ 252870 w 510088"/>
                <a:gd name="connsiteY12" fmla="*/ 332720 h 532904"/>
                <a:gd name="connsiteX13" fmla="*/ 239869 w 510088"/>
                <a:gd name="connsiteY13" fmla="*/ 327005 h 532904"/>
                <a:gd name="connsiteX14" fmla="*/ 235773 w 510088"/>
                <a:gd name="connsiteY14" fmla="*/ 313668 h 532904"/>
                <a:gd name="connsiteX15" fmla="*/ 241250 w 510088"/>
                <a:gd name="connsiteY15" fmla="*/ 293378 h 532904"/>
                <a:gd name="connsiteX16" fmla="*/ 266205 w 510088"/>
                <a:gd name="connsiteY16" fmla="*/ 260847 h 532904"/>
                <a:gd name="connsiteX17" fmla="*/ 288016 w 510088"/>
                <a:gd name="connsiteY17" fmla="*/ 236460 h 532904"/>
                <a:gd name="connsiteX18" fmla="*/ 291731 w 510088"/>
                <a:gd name="connsiteY18" fmla="*/ 220838 h 532904"/>
                <a:gd name="connsiteX19" fmla="*/ 282254 w 510088"/>
                <a:gd name="connsiteY19" fmla="*/ 197928 h 532904"/>
                <a:gd name="connsiteX20" fmla="*/ 255584 w 510088"/>
                <a:gd name="connsiteY20" fmla="*/ 189259 h 532904"/>
                <a:gd name="connsiteX21" fmla="*/ 216961 w 510088"/>
                <a:gd name="connsiteY21" fmla="*/ 223648 h 532904"/>
                <a:gd name="connsiteX22" fmla="*/ 200102 w 510088"/>
                <a:gd name="connsiteY22" fmla="*/ 237651 h 532904"/>
                <a:gd name="connsiteX23" fmla="*/ 187292 w 510088"/>
                <a:gd name="connsiteY23" fmla="*/ 232173 h 532904"/>
                <a:gd name="connsiteX24" fmla="*/ 183101 w 510088"/>
                <a:gd name="connsiteY24" fmla="*/ 219409 h 532904"/>
                <a:gd name="connsiteX25" fmla="*/ 187625 w 510088"/>
                <a:gd name="connsiteY25" fmla="*/ 199642 h 532904"/>
                <a:gd name="connsiteX26" fmla="*/ 203817 w 510088"/>
                <a:gd name="connsiteY26" fmla="*/ 176399 h 532904"/>
                <a:gd name="connsiteX27" fmla="*/ 228677 w 510088"/>
                <a:gd name="connsiteY27" fmla="*/ 162205 h 532904"/>
                <a:gd name="connsiteX28" fmla="*/ 256585 w 510088"/>
                <a:gd name="connsiteY28" fmla="*/ 157728 h 532904"/>
                <a:gd name="connsiteX29" fmla="*/ 121141 w 510088"/>
                <a:gd name="connsiteY29" fmla="*/ 32143 h 532904"/>
                <a:gd name="connsiteX30" fmla="*/ 32095 w 510088"/>
                <a:gd name="connsiteY30" fmla="*/ 121190 h 532904"/>
                <a:gd name="connsiteX31" fmla="*/ 32095 w 510088"/>
                <a:gd name="connsiteY31" fmla="*/ 411761 h 532904"/>
                <a:gd name="connsiteX32" fmla="*/ 121141 w 510088"/>
                <a:gd name="connsiteY32" fmla="*/ 500809 h 532904"/>
                <a:gd name="connsiteX33" fmla="*/ 388995 w 510088"/>
                <a:gd name="connsiteY33" fmla="*/ 500809 h 532904"/>
                <a:gd name="connsiteX34" fmla="*/ 478041 w 510088"/>
                <a:gd name="connsiteY34" fmla="*/ 411761 h 532904"/>
                <a:gd name="connsiteX35" fmla="*/ 478041 w 510088"/>
                <a:gd name="connsiteY35" fmla="*/ 121190 h 532904"/>
                <a:gd name="connsiteX36" fmla="*/ 388995 w 510088"/>
                <a:gd name="connsiteY36" fmla="*/ 32143 h 532904"/>
                <a:gd name="connsiteX37" fmla="*/ 121141 w 510088"/>
                <a:gd name="connsiteY37" fmla="*/ 0 h 532904"/>
                <a:gd name="connsiteX38" fmla="*/ 388995 w 510088"/>
                <a:gd name="connsiteY38" fmla="*/ 0 h 532904"/>
                <a:gd name="connsiteX39" fmla="*/ 510088 w 510088"/>
                <a:gd name="connsiteY39" fmla="*/ 121190 h 532904"/>
                <a:gd name="connsiteX40" fmla="*/ 510088 w 510088"/>
                <a:gd name="connsiteY40" fmla="*/ 411761 h 532904"/>
                <a:gd name="connsiteX41" fmla="*/ 388995 w 510088"/>
                <a:gd name="connsiteY41" fmla="*/ 532904 h 532904"/>
                <a:gd name="connsiteX42" fmla="*/ 121141 w 510088"/>
                <a:gd name="connsiteY42" fmla="*/ 532904 h 532904"/>
                <a:gd name="connsiteX43" fmla="*/ 0 w 510088"/>
                <a:gd name="connsiteY43" fmla="*/ 411761 h 532904"/>
                <a:gd name="connsiteX44" fmla="*/ 0 w 510088"/>
                <a:gd name="connsiteY44" fmla="*/ 121143 h 532904"/>
                <a:gd name="connsiteX45" fmla="*/ 121141 w 510088"/>
                <a:gd name="connsiteY45" fmla="*/ 0 h 53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510088" h="532904">
                  <a:moveTo>
                    <a:pt x="253679" y="352010"/>
                  </a:moveTo>
                  <a:cubicBezTo>
                    <a:pt x="265014" y="352010"/>
                    <a:pt x="274110" y="360869"/>
                    <a:pt x="274110" y="371777"/>
                  </a:cubicBezTo>
                  <a:cubicBezTo>
                    <a:pt x="274110" y="382684"/>
                    <a:pt x="264966" y="391543"/>
                    <a:pt x="253679" y="391543"/>
                  </a:cubicBezTo>
                  <a:cubicBezTo>
                    <a:pt x="242440" y="391543"/>
                    <a:pt x="233296" y="382684"/>
                    <a:pt x="233296" y="371777"/>
                  </a:cubicBezTo>
                  <a:cubicBezTo>
                    <a:pt x="233296" y="360869"/>
                    <a:pt x="242440" y="352010"/>
                    <a:pt x="253679" y="352010"/>
                  </a:cubicBezTo>
                  <a:close/>
                  <a:moveTo>
                    <a:pt x="256585" y="157728"/>
                  </a:moveTo>
                  <a:cubicBezTo>
                    <a:pt x="275777" y="157728"/>
                    <a:pt x="292731" y="164015"/>
                    <a:pt x="307018" y="176399"/>
                  </a:cubicBezTo>
                  <a:cubicBezTo>
                    <a:pt x="320353" y="187925"/>
                    <a:pt x="327163" y="203500"/>
                    <a:pt x="327020" y="222695"/>
                  </a:cubicBezTo>
                  <a:cubicBezTo>
                    <a:pt x="327020" y="232555"/>
                    <a:pt x="324925" y="241223"/>
                    <a:pt x="320829" y="248463"/>
                  </a:cubicBezTo>
                  <a:cubicBezTo>
                    <a:pt x="316829" y="255512"/>
                    <a:pt x="308828" y="264419"/>
                    <a:pt x="296112" y="275850"/>
                  </a:cubicBezTo>
                  <a:cubicBezTo>
                    <a:pt x="280730" y="290091"/>
                    <a:pt x="275301" y="297236"/>
                    <a:pt x="273491" y="300713"/>
                  </a:cubicBezTo>
                  <a:cubicBezTo>
                    <a:pt x="271729" y="304142"/>
                    <a:pt x="270538" y="309667"/>
                    <a:pt x="270062" y="317193"/>
                  </a:cubicBezTo>
                  <a:cubicBezTo>
                    <a:pt x="269443" y="325861"/>
                    <a:pt x="261918" y="332720"/>
                    <a:pt x="252870" y="332720"/>
                  </a:cubicBezTo>
                  <a:cubicBezTo>
                    <a:pt x="247869" y="332720"/>
                    <a:pt x="243155" y="330624"/>
                    <a:pt x="239869" y="327005"/>
                  </a:cubicBezTo>
                  <a:cubicBezTo>
                    <a:pt x="236582" y="323385"/>
                    <a:pt x="235106" y="318479"/>
                    <a:pt x="235773" y="313668"/>
                  </a:cubicBezTo>
                  <a:cubicBezTo>
                    <a:pt x="236821" y="306095"/>
                    <a:pt x="238678" y="299284"/>
                    <a:pt x="241250" y="293378"/>
                  </a:cubicBezTo>
                  <a:cubicBezTo>
                    <a:pt x="245155" y="284233"/>
                    <a:pt x="253346" y="273611"/>
                    <a:pt x="266205" y="260847"/>
                  </a:cubicBezTo>
                  <a:cubicBezTo>
                    <a:pt x="277920" y="249177"/>
                    <a:pt x="285254" y="240985"/>
                    <a:pt x="288016" y="236460"/>
                  </a:cubicBezTo>
                  <a:cubicBezTo>
                    <a:pt x="290493" y="232459"/>
                    <a:pt x="291731" y="227220"/>
                    <a:pt x="291731" y="220838"/>
                  </a:cubicBezTo>
                  <a:cubicBezTo>
                    <a:pt x="291731" y="211169"/>
                    <a:pt x="288635" y="203643"/>
                    <a:pt x="282254" y="197928"/>
                  </a:cubicBezTo>
                  <a:cubicBezTo>
                    <a:pt x="275777" y="192117"/>
                    <a:pt x="267014" y="189259"/>
                    <a:pt x="255584" y="189259"/>
                  </a:cubicBezTo>
                  <a:cubicBezTo>
                    <a:pt x="233487" y="189259"/>
                    <a:pt x="220914" y="200500"/>
                    <a:pt x="216961" y="223648"/>
                  </a:cubicBezTo>
                  <a:cubicBezTo>
                    <a:pt x="215580" y="231745"/>
                    <a:pt x="208484" y="237651"/>
                    <a:pt x="200102" y="237651"/>
                  </a:cubicBezTo>
                  <a:cubicBezTo>
                    <a:pt x="195150" y="237651"/>
                    <a:pt x="190530" y="235698"/>
                    <a:pt x="187292" y="232173"/>
                  </a:cubicBezTo>
                  <a:cubicBezTo>
                    <a:pt x="184101" y="228697"/>
                    <a:pt x="182529" y="224076"/>
                    <a:pt x="183101" y="219409"/>
                  </a:cubicBezTo>
                  <a:cubicBezTo>
                    <a:pt x="183958" y="211645"/>
                    <a:pt x="185482" y="204977"/>
                    <a:pt x="187625" y="199642"/>
                  </a:cubicBezTo>
                  <a:cubicBezTo>
                    <a:pt x="189816" y="194308"/>
                    <a:pt x="194816" y="184115"/>
                    <a:pt x="203817" y="176399"/>
                  </a:cubicBezTo>
                  <a:cubicBezTo>
                    <a:pt x="211199" y="170017"/>
                    <a:pt x="219581" y="165254"/>
                    <a:pt x="228677" y="162205"/>
                  </a:cubicBezTo>
                  <a:cubicBezTo>
                    <a:pt x="237678" y="159252"/>
                    <a:pt x="247060" y="157728"/>
                    <a:pt x="256585" y="157728"/>
                  </a:cubicBezTo>
                  <a:close/>
                  <a:moveTo>
                    <a:pt x="121141" y="32143"/>
                  </a:moveTo>
                  <a:cubicBezTo>
                    <a:pt x="71999" y="32143"/>
                    <a:pt x="32095" y="72048"/>
                    <a:pt x="32095" y="121190"/>
                  </a:cubicBezTo>
                  <a:lnTo>
                    <a:pt x="32095" y="411761"/>
                  </a:lnTo>
                  <a:cubicBezTo>
                    <a:pt x="32095" y="460856"/>
                    <a:pt x="71999" y="500809"/>
                    <a:pt x="121141" y="500809"/>
                  </a:cubicBezTo>
                  <a:lnTo>
                    <a:pt x="388995" y="500809"/>
                  </a:lnTo>
                  <a:cubicBezTo>
                    <a:pt x="438089" y="500809"/>
                    <a:pt x="478041" y="460856"/>
                    <a:pt x="478041" y="411761"/>
                  </a:cubicBezTo>
                  <a:lnTo>
                    <a:pt x="478041" y="121190"/>
                  </a:lnTo>
                  <a:cubicBezTo>
                    <a:pt x="478041" y="72048"/>
                    <a:pt x="438089" y="32143"/>
                    <a:pt x="388995" y="32143"/>
                  </a:cubicBezTo>
                  <a:close/>
                  <a:moveTo>
                    <a:pt x="121141" y="0"/>
                  </a:moveTo>
                  <a:lnTo>
                    <a:pt x="388995" y="0"/>
                  </a:lnTo>
                  <a:cubicBezTo>
                    <a:pt x="455756" y="0"/>
                    <a:pt x="510088" y="54333"/>
                    <a:pt x="510088" y="121190"/>
                  </a:cubicBezTo>
                  <a:lnTo>
                    <a:pt x="510088" y="411761"/>
                  </a:lnTo>
                  <a:cubicBezTo>
                    <a:pt x="510088" y="478571"/>
                    <a:pt x="455756" y="532904"/>
                    <a:pt x="388995" y="532904"/>
                  </a:cubicBezTo>
                  <a:lnTo>
                    <a:pt x="121141" y="532904"/>
                  </a:lnTo>
                  <a:cubicBezTo>
                    <a:pt x="54332" y="532904"/>
                    <a:pt x="0" y="478571"/>
                    <a:pt x="0" y="411761"/>
                  </a:cubicBezTo>
                  <a:lnTo>
                    <a:pt x="0" y="121143"/>
                  </a:lnTo>
                  <a:cubicBezTo>
                    <a:pt x="0" y="54333"/>
                    <a:pt x="54332" y="0"/>
                    <a:pt x="12114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BE607E0-AEB6-E779-B19A-EAA1BDEF8EAA}"/>
              </a:ext>
            </a:extLst>
          </p:cNvPr>
          <p:cNvGrpSpPr/>
          <p:nvPr/>
        </p:nvGrpSpPr>
        <p:grpSpPr>
          <a:xfrm>
            <a:off x="1104962" y="420472"/>
            <a:ext cx="425559" cy="425559"/>
            <a:chOff x="1066078" y="5214690"/>
            <a:chExt cx="425559" cy="425559"/>
          </a:xfrm>
        </p:grpSpPr>
        <p:sp>
          <p:nvSpPr>
            <p:cNvPr id="18" name="椭圆 68">
              <a:extLst>
                <a:ext uri="{FF2B5EF4-FFF2-40B4-BE49-F238E27FC236}">
                  <a16:creationId xmlns:a16="http://schemas.microsoft.com/office/drawing/2014/main" id="{1C90FC0D-711D-01F1-ADCD-5030D7DB0E93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F995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19" name="Oval 53">
              <a:extLst>
                <a:ext uri="{FF2B5EF4-FFF2-40B4-BE49-F238E27FC236}">
                  <a16:creationId xmlns:a16="http://schemas.microsoft.com/office/drawing/2014/main" id="{FF846FA6-4D42-E141-5AC4-6DAE4B188642}"/>
                </a:ext>
              </a:extLst>
            </p:cNvPr>
            <p:cNvSpPr/>
            <p:nvPr/>
          </p:nvSpPr>
          <p:spPr>
            <a:xfrm>
              <a:off x="1177004" y="5321080"/>
              <a:ext cx="203705" cy="212779"/>
            </a:xfrm>
            <a:custGeom>
              <a:avLst/>
              <a:gdLst>
                <a:gd name="connsiteX0" fmla="*/ 170887 w 507806"/>
                <a:gd name="connsiteY0" fmla="*/ 165466 h 530424"/>
                <a:gd name="connsiteX1" fmla="*/ 190890 w 507806"/>
                <a:gd name="connsiteY1" fmla="*/ 185475 h 530424"/>
                <a:gd name="connsiteX2" fmla="*/ 253804 w 507806"/>
                <a:gd name="connsiteY2" fmla="*/ 248454 h 530424"/>
                <a:gd name="connsiteX3" fmla="*/ 316718 w 507806"/>
                <a:gd name="connsiteY3" fmla="*/ 185475 h 530424"/>
                <a:gd name="connsiteX4" fmla="*/ 336721 w 507806"/>
                <a:gd name="connsiteY4" fmla="*/ 165466 h 530424"/>
                <a:gd name="connsiteX5" fmla="*/ 356629 w 507806"/>
                <a:gd name="connsiteY5" fmla="*/ 185475 h 530424"/>
                <a:gd name="connsiteX6" fmla="*/ 253756 w 507806"/>
                <a:gd name="connsiteY6" fmla="*/ 288375 h 530424"/>
                <a:gd name="connsiteX7" fmla="*/ 150884 w 507806"/>
                <a:gd name="connsiteY7" fmla="*/ 185475 h 530424"/>
                <a:gd name="connsiteX8" fmla="*/ 170887 w 507806"/>
                <a:gd name="connsiteY8" fmla="*/ 165466 h 530424"/>
                <a:gd name="connsiteX9" fmla="*/ 120571 w 507806"/>
                <a:gd name="connsiteY9" fmla="*/ 31904 h 530424"/>
                <a:gd name="connsiteX10" fmla="*/ 31952 w 507806"/>
                <a:gd name="connsiteY10" fmla="*/ 120570 h 530424"/>
                <a:gd name="connsiteX11" fmla="*/ 31952 w 507806"/>
                <a:gd name="connsiteY11" fmla="*/ 409854 h 530424"/>
                <a:gd name="connsiteX12" fmla="*/ 120571 w 507806"/>
                <a:gd name="connsiteY12" fmla="*/ 498472 h 530424"/>
                <a:gd name="connsiteX13" fmla="*/ 387140 w 507806"/>
                <a:gd name="connsiteY13" fmla="*/ 498472 h 530424"/>
                <a:gd name="connsiteX14" fmla="*/ 475759 w 507806"/>
                <a:gd name="connsiteY14" fmla="*/ 409854 h 530424"/>
                <a:gd name="connsiteX15" fmla="*/ 475806 w 507806"/>
                <a:gd name="connsiteY15" fmla="*/ 409854 h 530424"/>
                <a:gd name="connsiteX16" fmla="*/ 475806 w 507806"/>
                <a:gd name="connsiteY16" fmla="*/ 120570 h 530424"/>
                <a:gd name="connsiteX17" fmla="*/ 387188 w 507806"/>
                <a:gd name="connsiteY17" fmla="*/ 31904 h 530424"/>
                <a:gd name="connsiteX18" fmla="*/ 120571 w 507806"/>
                <a:gd name="connsiteY18" fmla="*/ 0 h 530424"/>
                <a:gd name="connsiteX19" fmla="*/ 387140 w 507806"/>
                <a:gd name="connsiteY19" fmla="*/ 0 h 530424"/>
                <a:gd name="connsiteX20" fmla="*/ 507806 w 507806"/>
                <a:gd name="connsiteY20" fmla="*/ 120570 h 530424"/>
                <a:gd name="connsiteX21" fmla="*/ 507806 w 507806"/>
                <a:gd name="connsiteY21" fmla="*/ 409854 h 530424"/>
                <a:gd name="connsiteX22" fmla="*/ 387188 w 507806"/>
                <a:gd name="connsiteY22" fmla="*/ 530424 h 530424"/>
                <a:gd name="connsiteX23" fmla="*/ 120571 w 507806"/>
                <a:gd name="connsiteY23" fmla="*/ 530424 h 530424"/>
                <a:gd name="connsiteX24" fmla="*/ 0 w 507806"/>
                <a:gd name="connsiteY24" fmla="*/ 409854 h 530424"/>
                <a:gd name="connsiteX25" fmla="*/ 0 w 507806"/>
                <a:gd name="connsiteY25" fmla="*/ 120570 h 530424"/>
                <a:gd name="connsiteX26" fmla="*/ 120571 w 507806"/>
                <a:gd name="connsiteY26" fmla="*/ 0 h 53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07806" h="530424">
                  <a:moveTo>
                    <a:pt x="170887" y="165466"/>
                  </a:moveTo>
                  <a:cubicBezTo>
                    <a:pt x="181936" y="165466"/>
                    <a:pt x="190890" y="174470"/>
                    <a:pt x="190890" y="185475"/>
                  </a:cubicBezTo>
                  <a:cubicBezTo>
                    <a:pt x="190890" y="220204"/>
                    <a:pt x="219085" y="248454"/>
                    <a:pt x="253804" y="248454"/>
                  </a:cubicBezTo>
                  <a:cubicBezTo>
                    <a:pt x="288523" y="248454"/>
                    <a:pt x="316718" y="220204"/>
                    <a:pt x="316718" y="185475"/>
                  </a:cubicBezTo>
                  <a:cubicBezTo>
                    <a:pt x="316718" y="174422"/>
                    <a:pt x="325719" y="165466"/>
                    <a:pt x="336721" y="165466"/>
                  </a:cubicBezTo>
                  <a:cubicBezTo>
                    <a:pt x="347818" y="165466"/>
                    <a:pt x="356724" y="174422"/>
                    <a:pt x="356629" y="185475"/>
                  </a:cubicBezTo>
                  <a:cubicBezTo>
                    <a:pt x="356629" y="242261"/>
                    <a:pt x="310479" y="288375"/>
                    <a:pt x="253756" y="288375"/>
                  </a:cubicBezTo>
                  <a:cubicBezTo>
                    <a:pt x="196986" y="288375"/>
                    <a:pt x="150884" y="242261"/>
                    <a:pt x="150884" y="185475"/>
                  </a:cubicBezTo>
                  <a:cubicBezTo>
                    <a:pt x="150884" y="174422"/>
                    <a:pt x="159838" y="165466"/>
                    <a:pt x="170887" y="165466"/>
                  </a:cubicBezTo>
                  <a:close/>
                  <a:moveTo>
                    <a:pt x="120571" y="31904"/>
                  </a:moveTo>
                  <a:cubicBezTo>
                    <a:pt x="71714" y="31904"/>
                    <a:pt x="31952" y="71666"/>
                    <a:pt x="31952" y="120570"/>
                  </a:cubicBezTo>
                  <a:lnTo>
                    <a:pt x="31952" y="409854"/>
                  </a:lnTo>
                  <a:cubicBezTo>
                    <a:pt x="31952" y="458663"/>
                    <a:pt x="71714" y="498425"/>
                    <a:pt x="120571" y="498472"/>
                  </a:cubicBezTo>
                  <a:lnTo>
                    <a:pt x="387140" y="498472"/>
                  </a:lnTo>
                  <a:cubicBezTo>
                    <a:pt x="435997" y="498472"/>
                    <a:pt x="475759" y="458711"/>
                    <a:pt x="475759" y="409854"/>
                  </a:cubicBezTo>
                  <a:lnTo>
                    <a:pt x="475806" y="409854"/>
                  </a:lnTo>
                  <a:lnTo>
                    <a:pt x="475806" y="120570"/>
                  </a:lnTo>
                  <a:cubicBezTo>
                    <a:pt x="475806" y="71666"/>
                    <a:pt x="436045" y="31904"/>
                    <a:pt x="387188" y="31904"/>
                  </a:cubicBezTo>
                  <a:close/>
                  <a:moveTo>
                    <a:pt x="120571" y="0"/>
                  </a:moveTo>
                  <a:lnTo>
                    <a:pt x="387140" y="0"/>
                  </a:lnTo>
                  <a:cubicBezTo>
                    <a:pt x="453616" y="0"/>
                    <a:pt x="507711" y="54047"/>
                    <a:pt x="507806" y="120570"/>
                  </a:cubicBezTo>
                  <a:lnTo>
                    <a:pt x="507806" y="409854"/>
                  </a:lnTo>
                  <a:cubicBezTo>
                    <a:pt x="507806" y="476329"/>
                    <a:pt x="453664" y="530424"/>
                    <a:pt x="387188" y="530424"/>
                  </a:cubicBezTo>
                  <a:lnTo>
                    <a:pt x="120571" y="530424"/>
                  </a:lnTo>
                  <a:cubicBezTo>
                    <a:pt x="54095" y="530424"/>
                    <a:pt x="0" y="476329"/>
                    <a:pt x="0" y="409854"/>
                  </a:cubicBezTo>
                  <a:lnTo>
                    <a:pt x="0" y="120570"/>
                  </a:lnTo>
                  <a:cubicBezTo>
                    <a:pt x="0" y="54047"/>
                    <a:pt x="54095" y="0"/>
                    <a:pt x="1205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23" name="组合 57">
            <a:extLst>
              <a:ext uri="{FF2B5EF4-FFF2-40B4-BE49-F238E27FC236}">
                <a16:creationId xmlns:a16="http://schemas.microsoft.com/office/drawing/2014/main" id="{697C9A74-04D0-04C7-FA63-F66139749808}"/>
              </a:ext>
            </a:extLst>
          </p:cNvPr>
          <p:cNvGrpSpPr/>
          <p:nvPr/>
        </p:nvGrpSpPr>
        <p:grpSpPr>
          <a:xfrm>
            <a:off x="9913773" y="5874031"/>
            <a:ext cx="425559" cy="425559"/>
            <a:chOff x="1066078" y="5214690"/>
            <a:chExt cx="425559" cy="425559"/>
          </a:xfrm>
        </p:grpSpPr>
        <p:sp>
          <p:nvSpPr>
            <p:cNvPr id="24" name="椭圆 52">
              <a:extLst>
                <a:ext uri="{FF2B5EF4-FFF2-40B4-BE49-F238E27FC236}">
                  <a16:creationId xmlns:a16="http://schemas.microsoft.com/office/drawing/2014/main" id="{5BB8B1F5-F6A3-806D-6F9B-B49288D23CF5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25" name="Oval 53">
              <a:extLst>
                <a:ext uri="{FF2B5EF4-FFF2-40B4-BE49-F238E27FC236}">
                  <a16:creationId xmlns:a16="http://schemas.microsoft.com/office/drawing/2014/main" id="{7D1BBCEF-C5CE-7BCA-7CA3-D0169539383C}"/>
                </a:ext>
              </a:extLst>
            </p:cNvPr>
            <p:cNvSpPr/>
            <p:nvPr/>
          </p:nvSpPr>
          <p:spPr>
            <a:xfrm>
              <a:off x="1172468" y="5322898"/>
              <a:ext cx="212779" cy="209143"/>
            </a:xfrm>
            <a:custGeom>
              <a:avLst/>
              <a:gdLst>
                <a:gd name="T0" fmla="*/ 5103 w 12800"/>
                <a:gd name="T1" fmla="*/ 585 h 12582"/>
                <a:gd name="T2" fmla="*/ 5103 w 12800"/>
                <a:gd name="T3" fmla="*/ 5103 h 12582"/>
                <a:gd name="T4" fmla="*/ 585 w 12800"/>
                <a:gd name="T5" fmla="*/ 5103 h 12582"/>
                <a:gd name="T6" fmla="*/ 585 w 12800"/>
                <a:gd name="T7" fmla="*/ 585 h 12582"/>
                <a:gd name="T8" fmla="*/ 5103 w 12800"/>
                <a:gd name="T9" fmla="*/ 585 h 12582"/>
                <a:gd name="T10" fmla="*/ 5689 w 12800"/>
                <a:gd name="T11" fmla="*/ 0 h 12582"/>
                <a:gd name="T12" fmla="*/ 0 w 12800"/>
                <a:gd name="T13" fmla="*/ 0 h 12582"/>
                <a:gd name="T14" fmla="*/ 0 w 12800"/>
                <a:gd name="T15" fmla="*/ 5689 h 12582"/>
                <a:gd name="T16" fmla="*/ 5689 w 12800"/>
                <a:gd name="T17" fmla="*/ 5689 h 12582"/>
                <a:gd name="T18" fmla="*/ 5689 w 12800"/>
                <a:gd name="T19" fmla="*/ 0 h 12582"/>
                <a:gd name="T20" fmla="*/ 12215 w 12800"/>
                <a:gd name="T21" fmla="*/ 585 h 12582"/>
                <a:gd name="T22" fmla="*/ 12215 w 12800"/>
                <a:gd name="T23" fmla="*/ 5103 h 12582"/>
                <a:gd name="T24" fmla="*/ 7696 w 12800"/>
                <a:gd name="T25" fmla="*/ 5103 h 12582"/>
                <a:gd name="T26" fmla="*/ 7696 w 12800"/>
                <a:gd name="T27" fmla="*/ 585 h 12582"/>
                <a:gd name="T28" fmla="*/ 12215 w 12800"/>
                <a:gd name="T29" fmla="*/ 585 h 12582"/>
                <a:gd name="T30" fmla="*/ 12800 w 12800"/>
                <a:gd name="T31" fmla="*/ 0 h 12582"/>
                <a:gd name="T32" fmla="*/ 7111 w 12800"/>
                <a:gd name="T33" fmla="*/ 0 h 12582"/>
                <a:gd name="T34" fmla="*/ 7111 w 12800"/>
                <a:gd name="T35" fmla="*/ 5689 h 12582"/>
                <a:gd name="T36" fmla="*/ 12800 w 12800"/>
                <a:gd name="T37" fmla="*/ 5689 h 12582"/>
                <a:gd name="T38" fmla="*/ 12800 w 12800"/>
                <a:gd name="T39" fmla="*/ 0 h 12582"/>
                <a:gd name="T40" fmla="*/ 5103 w 12800"/>
                <a:gd name="T41" fmla="*/ 7479 h 12582"/>
                <a:gd name="T42" fmla="*/ 5103 w 12800"/>
                <a:gd name="T43" fmla="*/ 11997 h 12582"/>
                <a:gd name="T44" fmla="*/ 585 w 12800"/>
                <a:gd name="T45" fmla="*/ 11997 h 12582"/>
                <a:gd name="T46" fmla="*/ 585 w 12800"/>
                <a:gd name="T47" fmla="*/ 7479 h 12582"/>
                <a:gd name="T48" fmla="*/ 5103 w 12800"/>
                <a:gd name="T49" fmla="*/ 7479 h 12582"/>
                <a:gd name="T50" fmla="*/ 5689 w 12800"/>
                <a:gd name="T51" fmla="*/ 6893 h 12582"/>
                <a:gd name="T52" fmla="*/ 0 w 12800"/>
                <a:gd name="T53" fmla="*/ 6893 h 12582"/>
                <a:gd name="T54" fmla="*/ 0 w 12800"/>
                <a:gd name="T55" fmla="*/ 12582 h 12582"/>
                <a:gd name="T56" fmla="*/ 5689 w 12800"/>
                <a:gd name="T57" fmla="*/ 12582 h 12582"/>
                <a:gd name="T58" fmla="*/ 5689 w 12800"/>
                <a:gd name="T59" fmla="*/ 6893 h 12582"/>
                <a:gd name="T60" fmla="*/ 12215 w 12800"/>
                <a:gd name="T61" fmla="*/ 7479 h 12582"/>
                <a:gd name="T62" fmla="*/ 12215 w 12800"/>
                <a:gd name="T63" fmla="*/ 11997 h 12582"/>
                <a:gd name="T64" fmla="*/ 7696 w 12800"/>
                <a:gd name="T65" fmla="*/ 11997 h 12582"/>
                <a:gd name="T66" fmla="*/ 7696 w 12800"/>
                <a:gd name="T67" fmla="*/ 7479 h 12582"/>
                <a:gd name="T68" fmla="*/ 12215 w 12800"/>
                <a:gd name="T69" fmla="*/ 7479 h 12582"/>
                <a:gd name="T70" fmla="*/ 12800 w 12800"/>
                <a:gd name="T71" fmla="*/ 6893 h 12582"/>
                <a:gd name="T72" fmla="*/ 7111 w 12800"/>
                <a:gd name="T73" fmla="*/ 6893 h 12582"/>
                <a:gd name="T74" fmla="*/ 7111 w 12800"/>
                <a:gd name="T75" fmla="*/ 12582 h 12582"/>
                <a:gd name="T76" fmla="*/ 12800 w 12800"/>
                <a:gd name="T77" fmla="*/ 12582 h 12582"/>
                <a:gd name="T78" fmla="*/ 12800 w 12800"/>
                <a:gd name="T79" fmla="*/ 6893 h 12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2800" h="12582">
                  <a:moveTo>
                    <a:pt x="5103" y="585"/>
                  </a:moveTo>
                  <a:lnTo>
                    <a:pt x="5103" y="5103"/>
                  </a:lnTo>
                  <a:lnTo>
                    <a:pt x="585" y="5103"/>
                  </a:lnTo>
                  <a:lnTo>
                    <a:pt x="585" y="585"/>
                  </a:lnTo>
                  <a:lnTo>
                    <a:pt x="5103" y="585"/>
                  </a:lnTo>
                  <a:close/>
                  <a:moveTo>
                    <a:pt x="5689" y="0"/>
                  </a:moveTo>
                  <a:lnTo>
                    <a:pt x="0" y="0"/>
                  </a:lnTo>
                  <a:lnTo>
                    <a:pt x="0" y="5689"/>
                  </a:lnTo>
                  <a:lnTo>
                    <a:pt x="5689" y="5689"/>
                  </a:lnTo>
                  <a:lnTo>
                    <a:pt x="5689" y="0"/>
                  </a:lnTo>
                  <a:close/>
                  <a:moveTo>
                    <a:pt x="12215" y="585"/>
                  </a:moveTo>
                  <a:lnTo>
                    <a:pt x="12215" y="5103"/>
                  </a:lnTo>
                  <a:lnTo>
                    <a:pt x="7696" y="5103"/>
                  </a:lnTo>
                  <a:lnTo>
                    <a:pt x="7696" y="585"/>
                  </a:lnTo>
                  <a:lnTo>
                    <a:pt x="12215" y="585"/>
                  </a:lnTo>
                  <a:close/>
                  <a:moveTo>
                    <a:pt x="12800" y="0"/>
                  </a:moveTo>
                  <a:lnTo>
                    <a:pt x="7111" y="0"/>
                  </a:lnTo>
                  <a:lnTo>
                    <a:pt x="7111" y="5689"/>
                  </a:lnTo>
                  <a:lnTo>
                    <a:pt x="12800" y="5689"/>
                  </a:lnTo>
                  <a:lnTo>
                    <a:pt x="12800" y="0"/>
                  </a:lnTo>
                  <a:close/>
                  <a:moveTo>
                    <a:pt x="5103" y="7479"/>
                  </a:moveTo>
                  <a:lnTo>
                    <a:pt x="5103" y="11997"/>
                  </a:lnTo>
                  <a:lnTo>
                    <a:pt x="585" y="11997"/>
                  </a:lnTo>
                  <a:lnTo>
                    <a:pt x="585" y="7479"/>
                  </a:lnTo>
                  <a:lnTo>
                    <a:pt x="5103" y="7479"/>
                  </a:lnTo>
                  <a:close/>
                  <a:moveTo>
                    <a:pt x="5689" y="6893"/>
                  </a:moveTo>
                  <a:lnTo>
                    <a:pt x="0" y="6893"/>
                  </a:lnTo>
                  <a:lnTo>
                    <a:pt x="0" y="12582"/>
                  </a:lnTo>
                  <a:lnTo>
                    <a:pt x="5689" y="12582"/>
                  </a:lnTo>
                  <a:lnTo>
                    <a:pt x="5689" y="6893"/>
                  </a:lnTo>
                  <a:close/>
                  <a:moveTo>
                    <a:pt x="12215" y="7479"/>
                  </a:moveTo>
                  <a:lnTo>
                    <a:pt x="12215" y="11997"/>
                  </a:lnTo>
                  <a:lnTo>
                    <a:pt x="7696" y="11997"/>
                  </a:lnTo>
                  <a:lnTo>
                    <a:pt x="7696" y="7479"/>
                  </a:lnTo>
                  <a:lnTo>
                    <a:pt x="12215" y="7479"/>
                  </a:lnTo>
                  <a:close/>
                  <a:moveTo>
                    <a:pt x="12800" y="6893"/>
                  </a:moveTo>
                  <a:lnTo>
                    <a:pt x="7111" y="6893"/>
                  </a:lnTo>
                  <a:lnTo>
                    <a:pt x="7111" y="12582"/>
                  </a:lnTo>
                  <a:lnTo>
                    <a:pt x="12800" y="12582"/>
                  </a:lnTo>
                  <a:lnTo>
                    <a:pt x="12800" y="68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3406428-FCEE-CD11-00E1-E01000375CD6}"/>
              </a:ext>
            </a:extLst>
          </p:cNvPr>
          <p:cNvGrpSpPr/>
          <p:nvPr/>
        </p:nvGrpSpPr>
        <p:grpSpPr>
          <a:xfrm>
            <a:off x="10498764" y="5874032"/>
            <a:ext cx="425559" cy="425559"/>
            <a:chOff x="1066078" y="5214690"/>
            <a:chExt cx="425559" cy="425559"/>
          </a:xfrm>
        </p:grpSpPr>
        <p:sp>
          <p:nvSpPr>
            <p:cNvPr id="27" name="椭圆 76">
              <a:extLst>
                <a:ext uri="{FF2B5EF4-FFF2-40B4-BE49-F238E27FC236}">
                  <a16:creationId xmlns:a16="http://schemas.microsoft.com/office/drawing/2014/main" id="{875F50EB-DCD6-B1E9-28D7-85C9FD760456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28" name="Oval 53">
              <a:extLst>
                <a:ext uri="{FF2B5EF4-FFF2-40B4-BE49-F238E27FC236}">
                  <a16:creationId xmlns:a16="http://schemas.microsoft.com/office/drawing/2014/main" id="{20B5BE80-D355-1971-32BE-8D723B861103}"/>
                </a:ext>
              </a:extLst>
            </p:cNvPr>
            <p:cNvSpPr/>
            <p:nvPr/>
          </p:nvSpPr>
          <p:spPr>
            <a:xfrm>
              <a:off x="1172772" y="5321080"/>
              <a:ext cx="212169" cy="212779"/>
            </a:xfrm>
            <a:custGeom>
              <a:avLst/>
              <a:gdLst>
                <a:gd name="T0" fmla="*/ 8992 w 10880"/>
                <a:gd name="T1" fmla="*/ 128 h 10912"/>
                <a:gd name="T2" fmla="*/ 3616 w 10880"/>
                <a:gd name="T3" fmla="*/ 5504 h 10912"/>
                <a:gd name="T4" fmla="*/ 3520 w 10880"/>
                <a:gd name="T5" fmla="*/ 5760 h 10912"/>
                <a:gd name="T6" fmla="*/ 3680 w 10880"/>
                <a:gd name="T7" fmla="*/ 6944 h 10912"/>
                <a:gd name="T8" fmla="*/ 3936 w 10880"/>
                <a:gd name="T9" fmla="*/ 7200 h 10912"/>
                <a:gd name="T10" fmla="*/ 5120 w 10880"/>
                <a:gd name="T11" fmla="*/ 7360 h 10912"/>
                <a:gd name="T12" fmla="*/ 5376 w 10880"/>
                <a:gd name="T13" fmla="*/ 7264 h 10912"/>
                <a:gd name="T14" fmla="*/ 10752 w 10880"/>
                <a:gd name="T15" fmla="*/ 1888 h 10912"/>
                <a:gd name="T16" fmla="*/ 10752 w 10880"/>
                <a:gd name="T17" fmla="*/ 1440 h 10912"/>
                <a:gd name="T18" fmla="*/ 9408 w 10880"/>
                <a:gd name="T19" fmla="*/ 96 h 10912"/>
                <a:gd name="T20" fmla="*/ 8992 w 10880"/>
                <a:gd name="T21" fmla="*/ 128 h 10912"/>
                <a:gd name="T22" fmla="*/ 5088 w 10880"/>
                <a:gd name="T23" fmla="*/ 6752 h 10912"/>
                <a:gd name="T24" fmla="*/ 4288 w 10880"/>
                <a:gd name="T25" fmla="*/ 6624 h 10912"/>
                <a:gd name="T26" fmla="*/ 4160 w 10880"/>
                <a:gd name="T27" fmla="*/ 5824 h 10912"/>
                <a:gd name="T28" fmla="*/ 8288 w 10880"/>
                <a:gd name="T29" fmla="*/ 1696 h 10912"/>
                <a:gd name="T30" fmla="*/ 9184 w 10880"/>
                <a:gd name="T31" fmla="*/ 2592 h 10912"/>
                <a:gd name="T32" fmla="*/ 5088 w 10880"/>
                <a:gd name="T33" fmla="*/ 6752 h 10912"/>
                <a:gd name="T34" fmla="*/ 10112 w 10880"/>
                <a:gd name="T35" fmla="*/ 1696 h 10912"/>
                <a:gd name="T36" fmla="*/ 9664 w 10880"/>
                <a:gd name="T37" fmla="*/ 2144 h 10912"/>
                <a:gd name="T38" fmla="*/ 8768 w 10880"/>
                <a:gd name="T39" fmla="*/ 1248 h 10912"/>
                <a:gd name="T40" fmla="*/ 9216 w 10880"/>
                <a:gd name="T41" fmla="*/ 800 h 10912"/>
                <a:gd name="T42" fmla="*/ 10112 w 10880"/>
                <a:gd name="T43" fmla="*/ 1696 h 10912"/>
                <a:gd name="T44" fmla="*/ 10240 w 10880"/>
                <a:gd name="T45" fmla="*/ 10272 h 10912"/>
                <a:gd name="T46" fmla="*/ 640 w 10880"/>
                <a:gd name="T47" fmla="*/ 10272 h 10912"/>
                <a:gd name="T48" fmla="*/ 640 w 10880"/>
                <a:gd name="T49" fmla="*/ 672 h 10912"/>
                <a:gd name="T50" fmla="*/ 6720 w 10880"/>
                <a:gd name="T51" fmla="*/ 672 h 10912"/>
                <a:gd name="T52" fmla="*/ 7040 w 10880"/>
                <a:gd name="T53" fmla="*/ 352 h 10912"/>
                <a:gd name="T54" fmla="*/ 6720 w 10880"/>
                <a:gd name="T55" fmla="*/ 32 h 10912"/>
                <a:gd name="T56" fmla="*/ 320 w 10880"/>
                <a:gd name="T57" fmla="*/ 32 h 10912"/>
                <a:gd name="T58" fmla="*/ 0 w 10880"/>
                <a:gd name="T59" fmla="*/ 352 h 10912"/>
                <a:gd name="T60" fmla="*/ 0 w 10880"/>
                <a:gd name="T61" fmla="*/ 10592 h 10912"/>
                <a:gd name="T62" fmla="*/ 320 w 10880"/>
                <a:gd name="T63" fmla="*/ 10912 h 10912"/>
                <a:gd name="T64" fmla="*/ 10560 w 10880"/>
                <a:gd name="T65" fmla="*/ 10912 h 10912"/>
                <a:gd name="T66" fmla="*/ 10880 w 10880"/>
                <a:gd name="T67" fmla="*/ 10592 h 10912"/>
                <a:gd name="T68" fmla="*/ 10880 w 10880"/>
                <a:gd name="T69" fmla="*/ 4192 h 10912"/>
                <a:gd name="T70" fmla="*/ 10560 w 10880"/>
                <a:gd name="T71" fmla="*/ 3872 h 10912"/>
                <a:gd name="T72" fmla="*/ 10240 w 10880"/>
                <a:gd name="T73" fmla="*/ 4192 h 10912"/>
                <a:gd name="T74" fmla="*/ 10240 w 10880"/>
                <a:gd name="T75" fmla="*/ 10272 h 109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0880" h="10912">
                  <a:moveTo>
                    <a:pt x="8992" y="128"/>
                  </a:moveTo>
                  <a:lnTo>
                    <a:pt x="3616" y="5504"/>
                  </a:lnTo>
                  <a:cubicBezTo>
                    <a:pt x="3552" y="5568"/>
                    <a:pt x="3520" y="5664"/>
                    <a:pt x="3520" y="5760"/>
                  </a:cubicBezTo>
                  <a:lnTo>
                    <a:pt x="3680" y="6944"/>
                  </a:lnTo>
                  <a:cubicBezTo>
                    <a:pt x="3712" y="7072"/>
                    <a:pt x="3808" y="7200"/>
                    <a:pt x="3936" y="7200"/>
                  </a:cubicBezTo>
                  <a:lnTo>
                    <a:pt x="5120" y="7360"/>
                  </a:lnTo>
                  <a:cubicBezTo>
                    <a:pt x="5216" y="7360"/>
                    <a:pt x="5312" y="7328"/>
                    <a:pt x="5376" y="7264"/>
                  </a:cubicBezTo>
                  <a:lnTo>
                    <a:pt x="10752" y="1888"/>
                  </a:lnTo>
                  <a:cubicBezTo>
                    <a:pt x="10880" y="1760"/>
                    <a:pt x="10880" y="1568"/>
                    <a:pt x="10752" y="1440"/>
                  </a:cubicBezTo>
                  <a:lnTo>
                    <a:pt x="9408" y="96"/>
                  </a:lnTo>
                  <a:cubicBezTo>
                    <a:pt x="9312" y="0"/>
                    <a:pt x="9088" y="0"/>
                    <a:pt x="8992" y="128"/>
                  </a:cubicBezTo>
                  <a:close/>
                  <a:moveTo>
                    <a:pt x="5088" y="6752"/>
                  </a:moveTo>
                  <a:lnTo>
                    <a:pt x="4288" y="6624"/>
                  </a:lnTo>
                  <a:lnTo>
                    <a:pt x="4160" y="5824"/>
                  </a:lnTo>
                  <a:lnTo>
                    <a:pt x="8288" y="1696"/>
                  </a:lnTo>
                  <a:lnTo>
                    <a:pt x="9184" y="2592"/>
                  </a:lnTo>
                  <a:lnTo>
                    <a:pt x="5088" y="6752"/>
                  </a:lnTo>
                  <a:close/>
                  <a:moveTo>
                    <a:pt x="10112" y="1696"/>
                  </a:moveTo>
                  <a:lnTo>
                    <a:pt x="9664" y="2144"/>
                  </a:lnTo>
                  <a:lnTo>
                    <a:pt x="8768" y="1248"/>
                  </a:lnTo>
                  <a:lnTo>
                    <a:pt x="9216" y="800"/>
                  </a:lnTo>
                  <a:lnTo>
                    <a:pt x="10112" y="1696"/>
                  </a:lnTo>
                  <a:close/>
                  <a:moveTo>
                    <a:pt x="10240" y="10272"/>
                  </a:moveTo>
                  <a:lnTo>
                    <a:pt x="640" y="10272"/>
                  </a:lnTo>
                  <a:lnTo>
                    <a:pt x="640" y="672"/>
                  </a:lnTo>
                  <a:lnTo>
                    <a:pt x="6720" y="672"/>
                  </a:lnTo>
                  <a:cubicBezTo>
                    <a:pt x="6912" y="672"/>
                    <a:pt x="7040" y="544"/>
                    <a:pt x="7040" y="352"/>
                  </a:cubicBezTo>
                  <a:cubicBezTo>
                    <a:pt x="7040" y="160"/>
                    <a:pt x="6912" y="32"/>
                    <a:pt x="6720" y="32"/>
                  </a:cubicBezTo>
                  <a:lnTo>
                    <a:pt x="320" y="32"/>
                  </a:lnTo>
                  <a:cubicBezTo>
                    <a:pt x="160" y="32"/>
                    <a:pt x="0" y="192"/>
                    <a:pt x="0" y="352"/>
                  </a:cubicBezTo>
                  <a:lnTo>
                    <a:pt x="0" y="10592"/>
                  </a:lnTo>
                  <a:cubicBezTo>
                    <a:pt x="0" y="10752"/>
                    <a:pt x="160" y="10912"/>
                    <a:pt x="320" y="10912"/>
                  </a:cubicBezTo>
                  <a:lnTo>
                    <a:pt x="10560" y="10912"/>
                  </a:lnTo>
                  <a:cubicBezTo>
                    <a:pt x="10720" y="10912"/>
                    <a:pt x="10880" y="10752"/>
                    <a:pt x="10880" y="10592"/>
                  </a:cubicBezTo>
                  <a:lnTo>
                    <a:pt x="10880" y="4192"/>
                  </a:lnTo>
                  <a:cubicBezTo>
                    <a:pt x="10880" y="4000"/>
                    <a:pt x="10752" y="3872"/>
                    <a:pt x="10560" y="3872"/>
                  </a:cubicBezTo>
                  <a:cubicBezTo>
                    <a:pt x="10368" y="3872"/>
                    <a:pt x="10240" y="4000"/>
                    <a:pt x="10240" y="4192"/>
                  </a:cubicBezTo>
                  <a:lnTo>
                    <a:pt x="10240" y="1027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sp>
        <p:nvSpPr>
          <p:cNvPr id="31" name="Title 30">
            <a:extLst>
              <a:ext uri="{FF2B5EF4-FFF2-40B4-BE49-F238E27FC236}">
                <a16:creationId xmlns:a16="http://schemas.microsoft.com/office/drawing/2014/main" id="{5E831183-9552-DA6B-A6F8-8A5990A8F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0311" y="395299"/>
            <a:ext cx="8532631" cy="896080"/>
          </a:xfrm>
        </p:spPr>
        <p:txBody>
          <a:bodyPr>
            <a:normAutofit/>
          </a:bodyPr>
          <a:lstStyle/>
          <a:p>
            <a:r>
              <a:rPr lang="en-US" sz="2800" b="1" i="1" dirty="0"/>
              <a:t>D2C-SKINCARE-BUSINESS-ANALYTICS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0ACB950-2E38-4D07-ECF8-E000817D2E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8279" y="6119933"/>
            <a:ext cx="9647138" cy="328570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i="1" dirty="0">
                <a:solidFill>
                  <a:schemeClr val="tx1"/>
                </a:solidFill>
              </a:rPr>
              <a:t>BY:SANA KHAN</a:t>
            </a:r>
          </a:p>
        </p:txBody>
      </p:sp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FF874A8E-20BE-CE85-C8E1-991A4C4730B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7"/>
          <a:stretch>
            <a:fillRect/>
          </a:stretch>
        </p:blipFill>
        <p:spPr>
          <a:xfrm>
            <a:off x="2757143" y="1218927"/>
            <a:ext cx="2994347" cy="374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738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A57F1267-EACF-A51F-322D-6A8EC9A4D20B}"/>
              </a:ext>
            </a:extLst>
          </p:cNvPr>
          <p:cNvGrpSpPr/>
          <p:nvPr/>
        </p:nvGrpSpPr>
        <p:grpSpPr>
          <a:xfrm>
            <a:off x="-762000" y="-426720"/>
            <a:ext cx="12954000" cy="7284720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A214E645-E8A8-DB22-B60E-CD754B34FD0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DF283F5A-442C-0E9B-BB68-BBD871FDBA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2E17E3E1-C49A-2276-C4A0-D24DEB3DAA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CBC045CE-86EF-3BA0-6196-8BA94C564F1B}"/>
                </a:ext>
              </a:extLst>
            </p:cNvPr>
            <p:cNvSpPr/>
            <p:nvPr/>
          </p:nvSpPr>
          <p:spPr>
            <a:xfrm>
              <a:off x="232611" y="302027"/>
              <a:ext cx="11489489" cy="6225773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C8F23DF8-7E07-FEAE-CF7E-E4800B1F6B4E}"/>
              </a:ext>
            </a:extLst>
          </p:cNvPr>
          <p:cNvGrpSpPr/>
          <p:nvPr/>
        </p:nvGrpSpPr>
        <p:grpSpPr>
          <a:xfrm>
            <a:off x="-524375" y="397359"/>
            <a:ext cx="5004404" cy="5164640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82E5A4C5-3983-6A97-5146-9BB289C7FA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A28D31AB-384B-7E1C-94D4-E0319744AB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C76E8A4C-F089-E4FD-561A-1C4C9BB4AA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68390C86-407C-C67D-CB93-5974A302C5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31108" y="4966155"/>
            <a:ext cx="597538" cy="1024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1F08DE-95A3-FECD-4BCD-38E7CE323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1641" y="-94957"/>
            <a:ext cx="5294217" cy="984633"/>
          </a:xfrm>
        </p:spPr>
        <p:txBody>
          <a:bodyPr>
            <a:normAutofit/>
          </a:bodyPr>
          <a:lstStyle/>
          <a:p>
            <a:pPr algn="ctr"/>
            <a:r>
              <a:rPr lang="en-US" sz="2400" b="1" i="1" dirty="0"/>
              <a:t>Project Overview &amp; Business Objectives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ADF47-413B-CCD1-033B-59FEA71F0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10" y="901124"/>
            <a:ext cx="6203032" cy="482154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800" b="1" i="1" dirty="0"/>
              <a:t>THE PROJECT </a:t>
            </a:r>
            <a:r>
              <a:rPr lang="en-US" sz="1800" i="1" dirty="0"/>
              <a:t>: This project focuses on data analytics for a Direct-to-Consumer (D2C) Skincare brand.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800" i="1" dirty="0"/>
              <a:t> Using SQL,  we analyze the brand's database to find hidden patterns in sales, manage stock efficiently, and understand what customers love the most . 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1800" i="1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1800" b="1" i="1" dirty="0"/>
              <a:t>WHAT WE ARE ANALYZING</a:t>
            </a:r>
            <a:endParaRPr lang="en-US" sz="1800" i="1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1800" i="1" dirty="0"/>
              <a:t> </a:t>
            </a:r>
            <a:r>
              <a:rPr lang="en-US" sz="1800" b="1" i="1" dirty="0"/>
              <a:t>Customer Insights</a:t>
            </a:r>
            <a:r>
              <a:rPr lang="en-US" sz="1800" i="1" dirty="0"/>
              <a:t>: Tracking new user registrations and buying habits.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800" i="1" dirty="0"/>
              <a:t> </a:t>
            </a:r>
            <a:r>
              <a:rPr lang="en-US" sz="1800" b="1" i="1" dirty="0"/>
              <a:t>Sales Performance</a:t>
            </a:r>
            <a:r>
              <a:rPr lang="en-US" sz="1800" i="1" dirty="0"/>
              <a:t>: Finding top-selling product categories and total revenue by state.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800" b="1" i="1" dirty="0"/>
              <a:t>Inventory Control</a:t>
            </a:r>
            <a:r>
              <a:rPr lang="en-US" sz="1800" i="1" dirty="0"/>
              <a:t>: Monitoring stock levels to prevent products from going out of stock.</a:t>
            </a:r>
          </a:p>
        </p:txBody>
      </p:sp>
    </p:spTree>
    <p:extLst>
      <p:ext uri="{BB962C8B-B14F-4D97-AF65-F5344CB8AC3E}">
        <p14:creationId xmlns:p14="http://schemas.microsoft.com/office/powerpoint/2010/main" val="26890897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1E01A781-117A-C20E-758D-C6289FA91DAC}"/>
              </a:ext>
            </a:extLst>
          </p:cNvPr>
          <p:cNvGrpSpPr/>
          <p:nvPr/>
        </p:nvGrpSpPr>
        <p:grpSpPr>
          <a:xfrm>
            <a:off x="-802640" y="-452437"/>
            <a:ext cx="13106400" cy="7310437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AD59EC-7616-5A29-72D5-0751D1922552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E3BE8486-2914-D9A7-AC55-CCE407A005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E5DFE60B-A34A-EE81-4151-4721A42F10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E700743D-EEE8-D813-73DC-B66E99D4D297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22F4183-4D86-F0FB-475A-6D91F0A11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59" y="114003"/>
            <a:ext cx="11089639" cy="1325563"/>
          </a:xfrm>
        </p:spPr>
        <p:txBody>
          <a:bodyPr/>
          <a:lstStyle/>
          <a:p>
            <a:r>
              <a:rPr lang="en-US" b="1" i="1" dirty="0"/>
              <a:t>Database Architecture &amp;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F3B68-2EBF-4FF1-EE3C-C9C73C3E4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1760" y="1209040"/>
            <a:ext cx="11440159" cy="477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b="1" i="1" dirty="0"/>
              <a:t>ABOUT THE DATA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Our D2C Skincare database consists of 6 interconnected tables that track the complete customer and sales lifecycle.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sz="2000" b="1" i="1" dirty="0"/>
          </a:p>
          <a:p>
            <a:pPr marL="0" indent="0" algn="ctr">
              <a:buNone/>
            </a:pPr>
            <a:r>
              <a:rPr lang="en-US" sz="2400" b="1" i="1" dirty="0"/>
              <a:t>CORE TABLES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customers: </a:t>
            </a:r>
            <a:r>
              <a:rPr lang="en-US" sz="2000" i="1" dirty="0"/>
              <a:t>Stores customer profile details, locations, and registration dates.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products: </a:t>
            </a:r>
            <a:r>
              <a:rPr lang="en-US" sz="2000" i="1" dirty="0"/>
              <a:t>Contains skincare inventory, prices, categories, and ratings.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orders: </a:t>
            </a:r>
            <a:r>
              <a:rPr lang="en-US" sz="2000" i="1" dirty="0"/>
              <a:t>Tracks transaction dates, order status, and total billing amounts</a:t>
            </a:r>
            <a:r>
              <a:rPr lang="en-US" sz="2000" b="1" i="1" dirty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order _items: </a:t>
            </a:r>
            <a:r>
              <a:rPr lang="en-US" sz="2000" i="1" dirty="0"/>
              <a:t>Records specific products and quantities bought inside each order.</a:t>
            </a:r>
          </a:p>
          <a:p>
            <a:pPr marL="0" indent="0">
              <a:buNone/>
            </a:pPr>
            <a:r>
              <a:rPr lang="en-US" sz="2000" dirty="0"/>
              <a:t>❖</a:t>
            </a:r>
            <a:r>
              <a:rPr lang="en-US" sz="2000" b="1" i="1" dirty="0"/>
              <a:t>reviews: </a:t>
            </a:r>
            <a:r>
              <a:rPr lang="en-US" sz="2000" i="1" dirty="0"/>
              <a:t>Stores product feedback, star ratings, and text comments from users.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b="1" i="1" dirty="0"/>
              <a:t>returns: </a:t>
            </a:r>
            <a:r>
              <a:rPr lang="en-US" sz="2000" i="1" dirty="0"/>
              <a:t>Tracks product returns, reasons for return, and refund status.</a:t>
            </a:r>
          </a:p>
        </p:txBody>
      </p:sp>
      <p:pic>
        <p:nvPicPr>
          <p:cNvPr id="10" name="图形 36">
            <a:extLst>
              <a:ext uri="{FF2B5EF4-FFF2-40B4-BE49-F238E27FC236}">
                <a16:creationId xmlns:a16="http://schemas.microsoft.com/office/drawing/2014/main" id="{90888DD4-AB1A-F2CD-0953-F6C4F30D0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72058" y="4402988"/>
            <a:ext cx="1027692" cy="176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5583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65B01D3-54B0-A05D-B71A-9C4E8A1C7A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1A924E6A-191D-1083-E2D0-75D363B8D7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组合 1">
            <a:extLst>
              <a:ext uri="{FF2B5EF4-FFF2-40B4-BE49-F238E27FC236}">
                <a16:creationId xmlns:a16="http://schemas.microsoft.com/office/drawing/2014/main" id="{13B503B7-3BDB-471E-6DC7-F82281FB86F2}"/>
              </a:ext>
            </a:extLst>
          </p:cNvPr>
          <p:cNvGrpSpPr/>
          <p:nvPr/>
        </p:nvGrpSpPr>
        <p:grpSpPr>
          <a:xfrm>
            <a:off x="-1493134" y="-671332"/>
            <a:ext cx="13685134" cy="7692618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B995B2E3-5603-7F6C-B2C3-F190637237DD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D4F25BF7-998F-C48F-DD88-AB15E71234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0E135839-DDD1-6775-0F38-B16D4DA896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7C975205-CEFF-9777-218A-7DA0D83DF57D}"/>
                </a:ext>
              </a:extLst>
            </p:cNvPr>
            <p:cNvSpPr/>
            <p:nvPr/>
          </p:nvSpPr>
          <p:spPr>
            <a:xfrm>
              <a:off x="469900" y="330199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dirty="0">
                <a:cs typeface="Mona-Sans Black Italic" pitchFamily="2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32FFA3B-D33C-31B6-1FC6-0D804F9177FB}"/>
              </a:ext>
            </a:extLst>
          </p:cNvPr>
          <p:cNvSpPr txBox="1"/>
          <p:nvPr/>
        </p:nvSpPr>
        <p:spPr>
          <a:xfrm>
            <a:off x="7631" y="730375"/>
            <a:ext cx="10571480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i="1" dirty="0"/>
              <a:t>Data Source &amp; Project Methodology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i="1" dirty="0"/>
              <a:t>DATA SOURCE : </a:t>
            </a:r>
            <a:r>
              <a:rPr lang="en-US" i="1" dirty="0"/>
              <a:t>The dataset used in this project is real-time Direct-to-Consumer (D2C)   skincare business data consisting of transactional and customer metrics.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i="1" dirty="0"/>
          </a:p>
          <a:p>
            <a:pPr lvl="4" algn="ctr"/>
            <a:endParaRPr lang="en-US" b="1" dirty="0"/>
          </a:p>
          <a:p>
            <a:pPr lvl="4"/>
            <a:r>
              <a:rPr lang="en-US" sz="3200" b="1" i="1" dirty="0"/>
              <a:t>ANALYTICAL APPROACH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 </a:t>
            </a:r>
            <a:r>
              <a:rPr lang="en-US" b="1" i="1" dirty="0"/>
              <a:t>Data Import: </a:t>
            </a:r>
            <a:r>
              <a:rPr lang="en-US" i="1" dirty="0"/>
              <a:t>The data was imported directly from structured CSV source files   into the SQL server.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i="1" dirty="0"/>
              <a:t> Project Goal: </a:t>
            </a:r>
            <a:r>
              <a:rPr lang="en-US" i="1" dirty="0"/>
              <a:t>Writing data-driven queries to extract actionable business   intelligence without altering the core database structure.</a:t>
            </a:r>
          </a:p>
        </p:txBody>
      </p:sp>
      <p:pic>
        <p:nvPicPr>
          <p:cNvPr id="18" name="图形 36">
            <a:extLst>
              <a:ext uri="{FF2B5EF4-FFF2-40B4-BE49-F238E27FC236}">
                <a16:creationId xmlns:a16="http://schemas.microsoft.com/office/drawing/2014/main" id="{CFD7D310-6779-EC26-ADEB-8B8297A937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9657" y="4547491"/>
            <a:ext cx="1005807" cy="1724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306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1">
            <a:extLst>
              <a:ext uri="{FF2B5EF4-FFF2-40B4-BE49-F238E27FC236}">
                <a16:creationId xmlns:a16="http://schemas.microsoft.com/office/drawing/2014/main" id="{7E792AFC-2FCF-2B26-9662-979795ED98A3}"/>
              </a:ext>
            </a:extLst>
          </p:cNvPr>
          <p:cNvGrpSpPr/>
          <p:nvPr/>
        </p:nvGrpSpPr>
        <p:grpSpPr>
          <a:xfrm>
            <a:off x="-3637081" y="-1392541"/>
            <a:ext cx="16324162" cy="8553691"/>
            <a:chOff x="0" y="-10794"/>
            <a:chExt cx="12192000" cy="6868793"/>
          </a:xfrm>
        </p:grpSpPr>
        <p:sp>
          <p:nvSpPr>
            <p:cNvPr id="7" name="矩形 4">
              <a:extLst>
                <a:ext uri="{FF2B5EF4-FFF2-40B4-BE49-F238E27FC236}">
                  <a16:creationId xmlns:a16="http://schemas.microsoft.com/office/drawing/2014/main" id="{56839D6E-E614-8591-E84A-02D189121BB3}"/>
                </a:ext>
              </a:extLst>
            </p:cNvPr>
            <p:cNvSpPr/>
            <p:nvPr/>
          </p:nvSpPr>
          <p:spPr>
            <a:xfrm>
              <a:off x="0" y="-10794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8" name="图形 22">
              <a:extLst>
                <a:ext uri="{FF2B5EF4-FFF2-40B4-BE49-F238E27FC236}">
                  <a16:creationId xmlns:a16="http://schemas.microsoft.com/office/drawing/2014/main" id="{B2D62975-6262-B38E-0DE7-649F086CF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9" name="图形 21">
              <a:extLst>
                <a:ext uri="{FF2B5EF4-FFF2-40B4-BE49-F238E27FC236}">
                  <a16:creationId xmlns:a16="http://schemas.microsoft.com/office/drawing/2014/main" id="{0DB5557D-95B9-B43F-477C-68B3B0218E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0" name="矩形: 圆角 6">
              <a:extLst>
                <a:ext uri="{FF2B5EF4-FFF2-40B4-BE49-F238E27FC236}">
                  <a16:creationId xmlns:a16="http://schemas.microsoft.com/office/drawing/2014/main" id="{AD782583-B7A6-9D06-BA8F-843A7BF3FE82}"/>
                </a:ext>
              </a:extLst>
            </p:cNvPr>
            <p:cNvSpPr/>
            <p:nvPr/>
          </p:nvSpPr>
          <p:spPr>
            <a:xfrm>
              <a:off x="469900" y="319406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1"/>
              <a:endParaRPr lang="zh-CN" altLang="en-US" sz="4000" b="1" i="1" dirty="0">
                <a:solidFill>
                  <a:schemeClr val="tx1"/>
                </a:solidFill>
                <a:cs typeface="Mona-Sans Black Italic" pitchFamily="2" charset="0"/>
              </a:endParaRPr>
            </a:p>
          </p:txBody>
        </p:sp>
      </p:grpSp>
      <p:sp>
        <p:nvSpPr>
          <p:cNvPr id="20" name="Title 19">
            <a:extLst>
              <a:ext uri="{FF2B5EF4-FFF2-40B4-BE49-F238E27FC236}">
                <a16:creationId xmlns:a16="http://schemas.microsoft.com/office/drawing/2014/main" id="{4FD5999F-9989-095F-EEA6-29F5212280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761772" y="-908312"/>
            <a:ext cx="5896272" cy="573723"/>
          </a:xfrm>
        </p:spPr>
        <p:txBody>
          <a:bodyPr>
            <a:normAutofit fontScale="90000"/>
          </a:bodyPr>
          <a:lstStyle/>
          <a:p>
            <a:r>
              <a:rPr lang="en-US" sz="3600" b="1" i="1" dirty="0"/>
              <a:t>Database Schema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C73270D-F276-7C0E-7988-90999C68AB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94397" y="-44786"/>
            <a:ext cx="9445815" cy="6107418"/>
          </a:xfrm>
          <a:prstGeom prst="round2DiagRect">
            <a:avLst>
              <a:gd name="adj1" fmla="val 3056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innerShdw blurRad="114300">
              <a:prstClr val="black"/>
            </a:innerShdw>
          </a:effectLst>
        </p:spPr>
      </p:pic>
      <p:pic>
        <p:nvPicPr>
          <p:cNvPr id="25" name="图形 36">
            <a:extLst>
              <a:ext uri="{FF2B5EF4-FFF2-40B4-BE49-F238E27FC236}">
                <a16:creationId xmlns:a16="http://schemas.microsoft.com/office/drawing/2014/main" id="{AB9AA230-761B-B01A-AAB5-1371003C37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9633" y="4820726"/>
            <a:ext cx="929071" cy="159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7093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1E7E3-6760-4110-9F17-D0ED5E0E5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371AE74C-22BE-9F22-96ED-FB5BC4B4CB11}"/>
              </a:ext>
            </a:extLst>
          </p:cNvPr>
          <p:cNvGrpSpPr/>
          <p:nvPr/>
        </p:nvGrpSpPr>
        <p:grpSpPr>
          <a:xfrm>
            <a:off x="-2913414" y="-2169225"/>
            <a:ext cx="15756578" cy="9151916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017D3043-76CD-C891-4E22-9F0A4023550F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AA3E13D5-9EE6-DCAB-F459-A0A8FF0861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5A8D9892-FFC5-7D85-6D88-DDA3892E6E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21552036-3BBF-5D6A-1961-E56621411C2B}"/>
                </a:ext>
              </a:extLst>
            </p:cNvPr>
            <p:cNvSpPr/>
            <p:nvPr/>
          </p:nvSpPr>
          <p:spPr>
            <a:xfrm>
              <a:off x="384014" y="280026"/>
              <a:ext cx="11338086" cy="6247775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dirty="0">
                <a:solidFill>
                  <a:schemeClr val="tx1"/>
                </a:solidFill>
                <a:cs typeface="Mona-Sans Black Italic" pitchFamily="2" charset="0"/>
              </a:endParaRPr>
            </a:p>
          </p:txBody>
        </p:sp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1132CD9E-B23B-9A35-3500-A53017F345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04883" y="4844143"/>
            <a:ext cx="866052" cy="11756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C1AEC5-E590-4728-AC8F-6F4316A44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029" y="-1880835"/>
            <a:ext cx="7462520" cy="928653"/>
          </a:xfrm>
        </p:spPr>
        <p:txBody>
          <a:bodyPr>
            <a:noAutofit/>
          </a:bodyPr>
          <a:lstStyle/>
          <a:p>
            <a:r>
              <a:rPr lang="en-US" sz="3600" b="1" i="1" dirty="0"/>
              <a:t>I</a:t>
            </a:r>
            <a:r>
              <a:rPr lang="en-US" sz="3200" b="1" i="1" dirty="0"/>
              <a:t>nitial Data Exploration :Product Catalog </a:t>
            </a:r>
            <a:endParaRPr lang="en-US" sz="3200" dirty="0"/>
          </a:p>
        </p:txBody>
      </p:sp>
      <p:pic>
        <p:nvPicPr>
          <p:cNvPr id="43" name="Content Placeholder 42">
            <a:extLst>
              <a:ext uri="{FF2B5EF4-FFF2-40B4-BE49-F238E27FC236}">
                <a16:creationId xmlns:a16="http://schemas.microsoft.com/office/drawing/2014/main" id="{A14E2E1F-8FE1-891E-199F-EC31F4CA6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808695" y="2633535"/>
            <a:ext cx="6142709" cy="3226938"/>
          </a:xfrm>
          <a:prstGeom prst="round2DiagRect">
            <a:avLst>
              <a:gd name="adj1" fmla="val 19672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3A238D-DAFF-ABB1-70CD-DE98520188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22566" y="-952182"/>
            <a:ext cx="7572747" cy="3077823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81893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2AE513EB-314C-CA91-C766-D5D92DB3C827}"/>
              </a:ext>
            </a:extLst>
          </p:cNvPr>
          <p:cNvGrpSpPr/>
          <p:nvPr/>
        </p:nvGrpSpPr>
        <p:grpSpPr>
          <a:xfrm>
            <a:off x="-1817913" y="-849086"/>
            <a:ext cx="14009914" cy="7712483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ED0D4DA-C06A-20C6-1CCE-F88F709DEF55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49D5B479-CBDD-F262-6EA6-EA69A857C1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11BACA54-3187-4C11-AEA8-2840BDD07F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180EA064-5076-45A3-FFB3-9786F4749BC7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E0C81C0-75EE-3596-4FB1-258707340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07572" y="-688214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i="1" dirty="0"/>
              <a:t>Question 1: count total numbers of customers.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48D0342-6FE8-3EF6-8BE2-3DEF9D4F45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255819" y="2791745"/>
            <a:ext cx="3640455" cy="274157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072EB76-07DD-C769-7E86-A2CE9230D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99" y="500378"/>
            <a:ext cx="6177197" cy="170249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20" name="图形 36">
            <a:extLst>
              <a:ext uri="{FF2B5EF4-FFF2-40B4-BE49-F238E27FC236}">
                <a16:creationId xmlns:a16="http://schemas.microsoft.com/office/drawing/2014/main" id="{69F21C32-D9C8-F344-02EE-EC0B59374D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71314" y="4539543"/>
            <a:ext cx="1057533" cy="162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054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F0338-1E32-5328-A193-1BFB9F5E2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266E3ABA-9A15-8EF2-B0CE-BE6BE5908B1F}"/>
              </a:ext>
            </a:extLst>
          </p:cNvPr>
          <p:cNvGrpSpPr/>
          <p:nvPr/>
        </p:nvGrpSpPr>
        <p:grpSpPr>
          <a:xfrm>
            <a:off x="-1839686" y="-1513114"/>
            <a:ext cx="14804571" cy="9154885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8259B62D-80F9-C0F4-0EFC-7D8032F74806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EB51B839-E33A-191F-E185-BAAB01667E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E4FD671B-BD2C-5DAA-8482-F28BC35CB0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9DF7DBFE-D537-D601-65AE-E367C40639C2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CC72297B-1680-C2FC-C942-DF229FB6AFFC}"/>
              </a:ext>
            </a:extLst>
          </p:cNvPr>
          <p:cNvGrpSpPr/>
          <p:nvPr/>
        </p:nvGrpSpPr>
        <p:grpSpPr>
          <a:xfrm>
            <a:off x="-1801031" y="343600"/>
            <a:ext cx="5650037" cy="5071558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EDB32334-DD41-488D-5778-70A1E31479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471D485E-6E61-4E72-DF7D-896DE1092B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BA9659A7-43ED-76B0-5342-4724120489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AAD50417-E3FB-2559-882D-786DEAE433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31225" y="5063454"/>
            <a:ext cx="787479" cy="134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015DE3-1695-298C-C3A0-DD656CBD9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9619" y="-949251"/>
            <a:ext cx="8469085" cy="949251"/>
          </a:xfrm>
        </p:spPr>
        <p:txBody>
          <a:bodyPr>
            <a:noAutofit/>
          </a:bodyPr>
          <a:lstStyle/>
          <a:p>
            <a:r>
              <a:rPr lang="en-US" sz="2400" b="1" i="1" dirty="0"/>
              <a:t>QUESTION 2: Display the  Serums  that have highest cost price.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1C84CC-2F08-79E0-13EA-ECF0DF911A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9006" y="-38220"/>
            <a:ext cx="5354614" cy="175770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70D982-76C7-7FA3-633E-B5F7B7FD81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4848" y="2368455"/>
            <a:ext cx="4930789" cy="3291635"/>
          </a:xfrm>
          <a:prstGeom prst="round2DiagRect">
            <a:avLst>
              <a:gd name="adj1" fmla="val 12698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142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11DA571-0424-4E9E-2418-82D8144C8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组合 1">
            <a:extLst>
              <a:ext uri="{FF2B5EF4-FFF2-40B4-BE49-F238E27FC236}">
                <a16:creationId xmlns:a16="http://schemas.microsoft.com/office/drawing/2014/main" id="{3B46D559-D22F-AB65-021E-E5CA30F2C1EE}"/>
              </a:ext>
            </a:extLst>
          </p:cNvPr>
          <p:cNvGrpSpPr/>
          <p:nvPr/>
        </p:nvGrpSpPr>
        <p:grpSpPr>
          <a:xfrm>
            <a:off x="-1861457" y="-1012370"/>
            <a:ext cx="14053457" cy="7875768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20E335E-A73A-E94A-D4D8-91E0D111E18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4FC44F1D-FD35-4363-8E76-8A44B9801C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8340A22F-441A-C15B-4F83-46DF7CC085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D63E5AA3-ABD0-BCF9-C56C-18EA04A90CD2}"/>
                </a:ext>
              </a:extLst>
            </p:cNvPr>
            <p:cNvSpPr/>
            <p:nvPr/>
          </p:nvSpPr>
          <p:spPr>
            <a:xfrm>
              <a:off x="377752" y="205795"/>
              <a:ext cx="11436016" cy="6329056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b="1" i="1" dirty="0">
                <a:solidFill>
                  <a:schemeClr val="tx1"/>
                </a:solidFill>
                <a:cs typeface="Mona-Sans Black Italic" pitchFamily="2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68AE011-F4E6-8EAF-4A19-00DFE534F566}"/>
              </a:ext>
            </a:extLst>
          </p:cNvPr>
          <p:cNvSpPr txBox="1"/>
          <p:nvPr/>
        </p:nvSpPr>
        <p:spPr>
          <a:xfrm>
            <a:off x="-931911" y="-519916"/>
            <a:ext cx="79137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QUESTION 3: Display all products sorted by lowest stock at the top.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4B4CD24-E7D0-6367-1242-C5655D296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0075" y="168028"/>
            <a:ext cx="5786917" cy="132556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27EE1A06-F21A-F010-A077-8438304B3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796" y="2206397"/>
            <a:ext cx="6542244" cy="3878027"/>
          </a:xfrm>
          <a:prstGeom prst="round2DiagRect">
            <a:avLst>
              <a:gd name="adj1" fmla="val 4758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6" name="图形 36">
            <a:extLst>
              <a:ext uri="{FF2B5EF4-FFF2-40B4-BE49-F238E27FC236}">
                <a16:creationId xmlns:a16="http://schemas.microsoft.com/office/drawing/2014/main" id="{E602797C-B9B5-A2EF-C424-F0E8FA006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44140" y="4823968"/>
            <a:ext cx="787479" cy="134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14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ADC0DEF1-60AB-8A09-9317-AE37D017A219}"/>
              </a:ext>
            </a:extLst>
          </p:cNvPr>
          <p:cNvGrpSpPr/>
          <p:nvPr/>
        </p:nvGrpSpPr>
        <p:grpSpPr>
          <a:xfrm>
            <a:off x="-1404257" y="-1137511"/>
            <a:ext cx="13792200" cy="7995511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B30C250-C653-173F-0F95-ED5BDA1BFF3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75EE19BC-04F6-520F-0592-5A4E38BC0C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FED83B39-3A87-F5EC-66EE-2E16DEA175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56F0BF7F-083C-9630-8D1E-F32DE830C6C3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BC2D215-BF40-FB8C-6208-5E31E3BCD49F}"/>
              </a:ext>
            </a:extLst>
          </p:cNvPr>
          <p:cNvSpPr txBox="1"/>
          <p:nvPr/>
        </p:nvSpPr>
        <p:spPr>
          <a:xfrm>
            <a:off x="-490403" y="-565666"/>
            <a:ext cx="95146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dirty="0"/>
              <a:t>Question 4 :display total orders placed and their revenue.</a:t>
            </a:r>
          </a:p>
        </p:txBody>
      </p:sp>
      <p:pic>
        <p:nvPicPr>
          <p:cNvPr id="14" name="图形 36">
            <a:extLst>
              <a:ext uri="{FF2B5EF4-FFF2-40B4-BE49-F238E27FC236}">
                <a16:creationId xmlns:a16="http://schemas.microsoft.com/office/drawing/2014/main" id="{D1088169-B605-1BB0-D5F8-7B1155E50A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84972" y="4216879"/>
            <a:ext cx="1024876" cy="175692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169DFE8-07F8-85C2-5968-E1D75734E3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00" y="128593"/>
            <a:ext cx="6353436" cy="184123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E2FAFC3-A336-7AA1-0083-86AC19C02C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7345" y="2425859"/>
            <a:ext cx="5074560" cy="179102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582968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95ED0-FF97-F6C9-834C-D7E21E9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BB366A96-926E-087F-3309-977B912EA9A1}"/>
              </a:ext>
            </a:extLst>
          </p:cNvPr>
          <p:cNvGrpSpPr/>
          <p:nvPr/>
        </p:nvGrpSpPr>
        <p:grpSpPr>
          <a:xfrm>
            <a:off x="-1914267" y="-1753570"/>
            <a:ext cx="15323221" cy="8776787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716F8A04-95AF-0F57-EA9F-92758C03D066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A911BCDA-CE7C-9BA7-3616-1ED48BC27D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1F42DB60-1969-7BC9-047A-36B1B67E50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F9595A78-7109-86B7-90D0-CA2198DFEA5B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7A072C31-B888-BDA5-8FD5-D9F157095A87}"/>
              </a:ext>
            </a:extLst>
          </p:cNvPr>
          <p:cNvGrpSpPr/>
          <p:nvPr/>
        </p:nvGrpSpPr>
        <p:grpSpPr>
          <a:xfrm>
            <a:off x="-1692946" y="-315666"/>
            <a:ext cx="5050971" cy="5445555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AB2BD374-F62F-923C-2864-BEE93C3FA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186AE62B-529C-0990-057B-21AD02ECEC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C151FDE8-95EF-3F2E-3898-EFA16B5617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D5C18921-CA03-84AF-0B2E-38B33F9A8A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75571" y="4658680"/>
            <a:ext cx="734198" cy="1258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3421DE-1956-49F8-F4CB-07026A892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0494" y="-1347633"/>
            <a:ext cx="9380506" cy="1325563"/>
          </a:xfrm>
        </p:spPr>
        <p:txBody>
          <a:bodyPr>
            <a:normAutofit/>
          </a:bodyPr>
          <a:lstStyle/>
          <a:p>
            <a:r>
              <a:rPr lang="en-US" sz="2800" b="1" i="1" dirty="0"/>
              <a:t>Question 5 : Count customers by age category.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9EDF79-C802-E941-10E1-413B0C8F31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/>
          <a:stretch>
            <a:fillRect/>
          </a:stretch>
        </p:blipFill>
        <p:spPr>
          <a:xfrm>
            <a:off x="5059122" y="2506520"/>
            <a:ext cx="4398241" cy="291242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701561-7CF4-A120-BBEB-8114083E6C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545" y="-38850"/>
            <a:ext cx="4945165" cy="175681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1830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151BFDDF-B9C1-4F50-F790-77C3B2047CCA}"/>
              </a:ext>
            </a:extLst>
          </p:cNvPr>
          <p:cNvGrpSpPr/>
          <p:nvPr/>
        </p:nvGrpSpPr>
        <p:grpSpPr>
          <a:xfrm>
            <a:off x="-1034143" y="-446314"/>
            <a:ext cx="13607143" cy="7551941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00C6E73-1D5C-0D6F-A51A-7D37D852CE43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B5ED5DB2-4B8E-406A-7565-3CABF67A3F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39390A65-A825-0A9A-3791-5F40FCFD00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7FEB5F08-E4E7-E7FF-0752-A516708EAA35}"/>
                </a:ext>
              </a:extLst>
            </p:cNvPr>
            <p:cNvSpPr/>
            <p:nvPr/>
          </p:nvSpPr>
          <p:spPr>
            <a:xfrm>
              <a:off x="469901" y="263755"/>
              <a:ext cx="11252200" cy="6264044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62A720C-5E7E-36A8-8521-E362D49B3E2D}"/>
              </a:ext>
            </a:extLst>
          </p:cNvPr>
          <p:cNvSpPr txBox="1"/>
          <p:nvPr/>
        </p:nvSpPr>
        <p:spPr>
          <a:xfrm>
            <a:off x="143441" y="216451"/>
            <a:ext cx="82712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1" dirty="0"/>
              <a:t>Question 6 : How many female are there.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37AC3-4AE6-A69B-A596-8C79B11991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49" y="881669"/>
            <a:ext cx="5322748" cy="206914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14" name="图形 36">
            <a:extLst>
              <a:ext uri="{FF2B5EF4-FFF2-40B4-BE49-F238E27FC236}">
                <a16:creationId xmlns:a16="http://schemas.microsoft.com/office/drawing/2014/main" id="{CD6CF0A4-56D5-2C7B-C774-43684EE22F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33315" y="4703380"/>
            <a:ext cx="941026" cy="16131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2F3B357-61D7-E86E-F6C5-BF107521C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8138" y="3578318"/>
            <a:ext cx="4336519" cy="225012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73379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FEC72A44-9048-7D2A-077F-D3239C1FAD44}"/>
              </a:ext>
            </a:extLst>
          </p:cNvPr>
          <p:cNvGrpSpPr/>
          <p:nvPr/>
        </p:nvGrpSpPr>
        <p:grpSpPr>
          <a:xfrm>
            <a:off x="-671209" y="-301557"/>
            <a:ext cx="12976698" cy="7645939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3997A19-EE7B-7AB1-0591-ABC77A4438CF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AFB2062C-55A4-9EDC-3198-9741E7B728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A1C98835-2D52-BFDC-F989-B81F71654C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893D35E7-E0C1-45DE-A059-FE52305B13BB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46E4F11-8AA7-B751-DC30-4D47F4420C97}"/>
              </a:ext>
            </a:extLst>
          </p:cNvPr>
          <p:cNvSpPr txBox="1"/>
          <p:nvPr/>
        </p:nvSpPr>
        <p:spPr>
          <a:xfrm>
            <a:off x="767290" y="126971"/>
            <a:ext cx="8871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QUESTION  7 : Geographical sales breakdown (Total Orders and Revenue by State).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F20602-727A-664E-3DE0-FE52F817CE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18" y="697078"/>
            <a:ext cx="5460282" cy="263663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C1C737-9656-4B70-432C-BC9B2BEFB7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1918" y="3649607"/>
            <a:ext cx="4270444" cy="294285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4" name="图形 36">
            <a:extLst>
              <a:ext uri="{FF2B5EF4-FFF2-40B4-BE49-F238E27FC236}">
                <a16:creationId xmlns:a16="http://schemas.microsoft.com/office/drawing/2014/main" id="{1D8FEDCA-CAF0-68B9-B240-4AB776EED2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47216" y="4962476"/>
            <a:ext cx="941026" cy="161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921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1F17-2379-D3FA-A5A3-9BB8554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51E7BB68-5142-7B14-ADF0-7E003340DCCE}"/>
              </a:ext>
            </a:extLst>
          </p:cNvPr>
          <p:cNvGrpSpPr/>
          <p:nvPr/>
        </p:nvGrpSpPr>
        <p:grpSpPr>
          <a:xfrm>
            <a:off x="-1332688" y="-807396"/>
            <a:ext cx="13612238" cy="7870744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66ADC944-F400-8608-E3A3-263DC122C6A5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DDECCF22-ECD9-9937-2D92-36B5D6D976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4D71C708-9B49-AA66-CFA9-952DA3A058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8E783F58-25C0-E9ED-131B-923B39AF32A0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A0A5B1B2-2E84-B75D-AE45-4671922F4BD8}"/>
              </a:ext>
            </a:extLst>
          </p:cNvPr>
          <p:cNvGrpSpPr/>
          <p:nvPr/>
        </p:nvGrpSpPr>
        <p:grpSpPr>
          <a:xfrm>
            <a:off x="-1277829" y="487105"/>
            <a:ext cx="4975389" cy="5414137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7F551687-EE64-1265-A7BB-188EEF44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C1BC1C20-AEAA-7AF8-51AF-E30125F603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DBFC455C-9CEB-4023-052A-01F207F38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EF2BCDA7-61E8-19EA-423F-98F3DC9597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87974" y="5160738"/>
            <a:ext cx="730730" cy="1252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D46FDE-34B4-C858-8DB1-BDC849A862D1}"/>
              </a:ext>
            </a:extLst>
          </p:cNvPr>
          <p:cNvSpPr txBox="1"/>
          <p:nvPr/>
        </p:nvSpPr>
        <p:spPr>
          <a:xfrm>
            <a:off x="2986392" y="-74755"/>
            <a:ext cx="80545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/>
              <a:t>Question 8 :Top 3 best-selling products by volume (quantity sold</a:t>
            </a:r>
            <a:r>
              <a:rPr lang="en-US" sz="2000" b="1" dirty="0"/>
              <a:t>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C56883-B403-2E44-C68F-6CD9C04FFB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8947" y="638831"/>
            <a:ext cx="5374228" cy="218913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47FBE5-937B-6A5B-BB7E-23A079D5D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35848" y="3360293"/>
            <a:ext cx="5246814" cy="207538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53851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09A19BD0-1374-7C30-9FC1-ED66454CABE0}"/>
              </a:ext>
            </a:extLst>
          </p:cNvPr>
          <p:cNvGrpSpPr/>
          <p:nvPr/>
        </p:nvGrpSpPr>
        <p:grpSpPr>
          <a:xfrm>
            <a:off x="-1157591" y="-1070043"/>
            <a:ext cx="13832731" cy="8414427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D429130-CD43-8830-A4FD-6524DACDD7D5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D1C8FDB1-8169-7FDD-DE5F-806A8F97B5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4E097E59-BA1C-8538-5E31-542C170C48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104E2921-F791-7C1E-A769-3C3F9B325AB7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3F04006-AE2B-20B4-8A29-0348E8849D9A}"/>
              </a:ext>
            </a:extLst>
          </p:cNvPr>
          <p:cNvSpPr txBox="1"/>
          <p:nvPr/>
        </p:nvSpPr>
        <p:spPr>
          <a:xfrm>
            <a:off x="-152807" y="-471458"/>
            <a:ext cx="85283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/>
              <a:t>Question 9 : Calculate Average Order Value (AOV) per customer.</a:t>
            </a:r>
          </a:p>
        </p:txBody>
      </p:sp>
      <p:pic>
        <p:nvPicPr>
          <p:cNvPr id="10" name="图形 36">
            <a:extLst>
              <a:ext uri="{FF2B5EF4-FFF2-40B4-BE49-F238E27FC236}">
                <a16:creationId xmlns:a16="http://schemas.microsoft.com/office/drawing/2014/main" id="{AFFEFB2F-755E-17EF-5C4E-CEA8B7238F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10153" y="5027331"/>
            <a:ext cx="808551" cy="13860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234CAE-25AD-9595-AB55-DDD42E403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7136" y="3309602"/>
            <a:ext cx="4103276" cy="2913903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F3376FC-A300-3380-AFE8-A4F6932766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740" y="180718"/>
            <a:ext cx="5428034" cy="2724381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0105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33829-3668-7EB7-651C-4C3D79A59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5039A602-728D-9EF6-2921-1C3BCB5CA698}"/>
              </a:ext>
            </a:extLst>
          </p:cNvPr>
          <p:cNvGrpSpPr/>
          <p:nvPr/>
        </p:nvGrpSpPr>
        <p:grpSpPr>
          <a:xfrm>
            <a:off x="-1274323" y="-943583"/>
            <a:ext cx="13466323" cy="7919382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9B5C4EB7-CAF4-A698-6B58-DC7402F342C9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CA507FCE-2251-B97A-D264-06FEC17DF5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0FA5CB82-86C2-0A89-31B5-FC2DED5268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952A0D52-A02F-1726-DD2B-B4B77A1FCEC8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dirty="0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E8B98339-C0BB-7E37-3069-A8EF02D8AC53}"/>
              </a:ext>
            </a:extLst>
          </p:cNvPr>
          <p:cNvGrpSpPr/>
          <p:nvPr/>
        </p:nvGrpSpPr>
        <p:grpSpPr>
          <a:xfrm>
            <a:off x="-1241270" y="486551"/>
            <a:ext cx="5324421" cy="5071558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9334B4FF-ADF9-D28F-4555-6367773001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412E1917-D003-04CE-CDCF-8E86A55C50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1C070302-1439-D6D3-B139-9F0F7E442E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8717B554-6869-F008-3053-638C884955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84419" y="4915094"/>
            <a:ext cx="750185" cy="12860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4017798-EFEC-5E4D-A248-4D6BA6C5B9F4}"/>
              </a:ext>
            </a:extLst>
          </p:cNvPr>
          <p:cNvSpPr txBox="1"/>
          <p:nvPr/>
        </p:nvSpPr>
        <p:spPr>
          <a:xfrm>
            <a:off x="2499708" y="-354335"/>
            <a:ext cx="8521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QUESTION 10 : Categorize users into Repeat Customers vs One-Time Buyers.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CFF968-672B-CFFA-3017-71C9F78CBA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54278" y="423104"/>
            <a:ext cx="6314504" cy="16047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A9FEF9-EC17-C72B-E06A-9C1FEE2113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8530" y="2329449"/>
            <a:ext cx="4350510" cy="328584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04269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E25F37F7-3D7B-C4FC-9931-39B0812CEC57}"/>
              </a:ext>
            </a:extLst>
          </p:cNvPr>
          <p:cNvGrpSpPr/>
          <p:nvPr/>
        </p:nvGrpSpPr>
        <p:grpSpPr>
          <a:xfrm>
            <a:off x="-651753" y="-486383"/>
            <a:ext cx="12843753" cy="7349780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5A25F53-A16A-975C-9423-07555132BB7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7B72A3DB-921A-A575-1DBB-6DA5F158FA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B5566403-ED55-4A0E-A681-1A6100571D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E89DFA47-E3FB-103B-B1E8-75902A467A26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A85DB1-6345-5BEF-08F2-AB0BB09C4327}"/>
              </a:ext>
            </a:extLst>
          </p:cNvPr>
          <p:cNvSpPr txBox="1"/>
          <p:nvPr/>
        </p:nvSpPr>
        <p:spPr>
          <a:xfrm>
            <a:off x="495019" y="77822"/>
            <a:ext cx="99805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</a:t>
            </a:r>
            <a:r>
              <a:rPr lang="en-US" sz="2000" b="1" i="1" dirty="0"/>
              <a:t>QUESTION  11 : Cart Abandonment Analysis (Inactive users with 0 purchases).</a:t>
            </a:r>
            <a:endParaRPr lang="en-US" b="1" i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17F869-5832-F70C-E6FE-4E28F36CFA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06" y="677265"/>
            <a:ext cx="5631993" cy="212079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5B119C8-796F-AEBF-AD55-5BDB1EC423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256" y="3290721"/>
            <a:ext cx="3161488" cy="27550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4" name="图形 36">
            <a:extLst>
              <a:ext uri="{FF2B5EF4-FFF2-40B4-BE49-F238E27FC236}">
                <a16:creationId xmlns:a16="http://schemas.microsoft.com/office/drawing/2014/main" id="{63913756-2AD1-ADA1-65C3-4B805104B9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238" y="4861961"/>
            <a:ext cx="808551" cy="138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6814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1FF078A8-76C0-5FB1-9ECB-9500D25CDA05}"/>
              </a:ext>
            </a:extLst>
          </p:cNvPr>
          <p:cNvGrpSpPr/>
          <p:nvPr/>
        </p:nvGrpSpPr>
        <p:grpSpPr>
          <a:xfrm>
            <a:off x="-1546698" y="-1118681"/>
            <a:ext cx="14280203" cy="8531158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CEC2FF1-3922-79C7-C3A1-ECAA7A43435A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08DF36DF-AA0E-D36A-680C-621C9D704E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6821DDF6-69D3-8ED9-8DF8-04A2404A81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AC41EBB7-D2F7-D05E-E399-D87119731152}"/>
                </a:ext>
              </a:extLst>
            </p:cNvPr>
            <p:cNvSpPr/>
            <p:nvPr/>
          </p:nvSpPr>
          <p:spPr>
            <a:xfrm>
              <a:off x="469900" y="232003"/>
              <a:ext cx="11259779" cy="6295797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D49160D-6C99-23E9-3F13-7A33AEF919C8}"/>
              </a:ext>
            </a:extLst>
          </p:cNvPr>
          <p:cNvSpPr txBox="1"/>
          <p:nvPr/>
        </p:nvSpPr>
        <p:spPr>
          <a:xfrm>
            <a:off x="76587" y="-808671"/>
            <a:ext cx="9913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/>
              <a:t>QUESTION 12: Rank products within each category by revenue generated.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6A3AA7-0E39-9AA2-B3D8-387BD97983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76646"/>
            <a:ext cx="7745650" cy="32159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094104-7460-0B09-31C4-16B51B7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399" y="3521629"/>
            <a:ext cx="4727643" cy="305889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6" name="图形 36">
            <a:extLst>
              <a:ext uri="{FF2B5EF4-FFF2-40B4-BE49-F238E27FC236}">
                <a16:creationId xmlns:a16="http://schemas.microsoft.com/office/drawing/2014/main" id="{E330057E-1BA8-328D-7C83-930268D91F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479" y="5121829"/>
            <a:ext cx="935010" cy="1602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529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CF0B54BB-37ED-8F97-35DF-1F917870D1D4}"/>
              </a:ext>
            </a:extLst>
          </p:cNvPr>
          <p:cNvGrpSpPr/>
          <p:nvPr/>
        </p:nvGrpSpPr>
        <p:grpSpPr>
          <a:xfrm>
            <a:off x="-1040861" y="-1274323"/>
            <a:ext cx="13482537" cy="8145930"/>
            <a:chOff x="0" y="-10794"/>
            <a:chExt cx="12192000" cy="68687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C9701E0-EA7F-AE7B-D490-C202FB43782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6" name="图形 22">
              <a:extLst>
                <a:ext uri="{FF2B5EF4-FFF2-40B4-BE49-F238E27FC236}">
                  <a16:creationId xmlns:a16="http://schemas.microsoft.com/office/drawing/2014/main" id="{BD53B12A-119E-3C1F-47AC-7A1569C48F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7" name="图形 21">
              <a:extLst>
                <a:ext uri="{FF2B5EF4-FFF2-40B4-BE49-F238E27FC236}">
                  <a16:creationId xmlns:a16="http://schemas.microsoft.com/office/drawing/2014/main" id="{62ADFB86-AA38-52FB-9849-3477881B3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8" name="矩形: 圆角 6">
              <a:extLst>
                <a:ext uri="{FF2B5EF4-FFF2-40B4-BE49-F238E27FC236}">
                  <a16:creationId xmlns:a16="http://schemas.microsoft.com/office/drawing/2014/main" id="{5FD0A6A2-B25D-8CC9-A089-6031D04C77D8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sz="2000" b="1" i="1" dirty="0">
                <a:solidFill>
                  <a:schemeClr val="tx1"/>
                </a:solidFill>
                <a:cs typeface="Mona-Sans Black Italic" pitchFamily="2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8EF8F27-123E-DA32-57B5-35EADF216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792" y="-594855"/>
            <a:ext cx="10515600" cy="610431"/>
          </a:xfrm>
        </p:spPr>
        <p:txBody>
          <a:bodyPr>
            <a:normAutofit fontScale="90000"/>
          </a:bodyPr>
          <a:lstStyle/>
          <a:p>
            <a:r>
              <a:rPr lang="en-US" altLang="zh-CN" sz="2400" b="1" i="1" dirty="0">
                <a:cs typeface="Mona-Sans Black Italic" pitchFamily="2" charset="0"/>
              </a:rPr>
              <a:t>Question 13 :list all above-average rated product reviews.</a:t>
            </a:r>
            <a:br>
              <a:rPr lang="zh-CN" altLang="en-US" b="1" i="1" dirty="0">
                <a:cs typeface="Mona-Sans Black Italic" pitchFamily="2" charset="0"/>
              </a:rPr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4B2616-8A25-E0B5-31EB-18DD6D2CE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9109" y="3189507"/>
            <a:ext cx="4468273" cy="291357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13" name="图形 36">
            <a:extLst>
              <a:ext uri="{FF2B5EF4-FFF2-40B4-BE49-F238E27FC236}">
                <a16:creationId xmlns:a16="http://schemas.microsoft.com/office/drawing/2014/main" id="{C0E9ED11-91F3-96B2-A8EB-DC8E460190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70666" y="4742450"/>
            <a:ext cx="935010" cy="16028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066921A-FBF3-2DC7-C9EC-D903BBC30D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792" y="-182346"/>
            <a:ext cx="5056909" cy="302540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037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5EC33-13E1-4CF3-38AF-5E824A57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1">
            <a:extLst>
              <a:ext uri="{FF2B5EF4-FFF2-40B4-BE49-F238E27FC236}">
                <a16:creationId xmlns:a16="http://schemas.microsoft.com/office/drawing/2014/main" id="{4A33A487-53F7-6E7C-4B25-BA1718EEA121}"/>
              </a:ext>
            </a:extLst>
          </p:cNvPr>
          <p:cNvGrpSpPr/>
          <p:nvPr/>
        </p:nvGrpSpPr>
        <p:grpSpPr>
          <a:xfrm>
            <a:off x="-1284051" y="-1119747"/>
            <a:ext cx="13476051" cy="7977747"/>
            <a:chOff x="0" y="-10794"/>
            <a:chExt cx="12192000" cy="6868794"/>
          </a:xfrm>
        </p:grpSpPr>
        <p:sp>
          <p:nvSpPr>
            <p:cNvPr id="10" name="矩形 4">
              <a:extLst>
                <a:ext uri="{FF2B5EF4-FFF2-40B4-BE49-F238E27FC236}">
                  <a16:creationId xmlns:a16="http://schemas.microsoft.com/office/drawing/2014/main" id="{8317AF6F-4DC5-7BBF-9938-73F947BCB0E2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11" name="图形 22">
              <a:extLst>
                <a:ext uri="{FF2B5EF4-FFF2-40B4-BE49-F238E27FC236}">
                  <a16:creationId xmlns:a16="http://schemas.microsoft.com/office/drawing/2014/main" id="{4DF5C34F-4741-7102-F739-33BDD0A28D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12" name="图形 21">
              <a:extLst>
                <a:ext uri="{FF2B5EF4-FFF2-40B4-BE49-F238E27FC236}">
                  <a16:creationId xmlns:a16="http://schemas.microsoft.com/office/drawing/2014/main" id="{1360C6DF-BD4A-1DD4-EA0B-0FE4D1E354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13" name="矩形: 圆角 6">
              <a:extLst>
                <a:ext uri="{FF2B5EF4-FFF2-40B4-BE49-F238E27FC236}">
                  <a16:creationId xmlns:a16="http://schemas.microsoft.com/office/drawing/2014/main" id="{9A98AABC-E8C5-6DA5-3297-92838676093F}"/>
                </a:ext>
              </a:extLst>
            </p:cNvPr>
            <p:cNvSpPr/>
            <p:nvPr/>
          </p:nvSpPr>
          <p:spPr>
            <a:xfrm>
              <a:off x="469900" y="330200"/>
              <a:ext cx="11252200" cy="6197600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grpSp>
        <p:nvGrpSpPr>
          <p:cNvPr id="14" name="组合 5">
            <a:extLst>
              <a:ext uri="{FF2B5EF4-FFF2-40B4-BE49-F238E27FC236}">
                <a16:creationId xmlns:a16="http://schemas.microsoft.com/office/drawing/2014/main" id="{38B79DED-98B9-F782-85F7-78E87CD32F75}"/>
              </a:ext>
            </a:extLst>
          </p:cNvPr>
          <p:cNvGrpSpPr/>
          <p:nvPr/>
        </p:nvGrpSpPr>
        <p:grpSpPr>
          <a:xfrm>
            <a:off x="-1284051" y="0"/>
            <a:ext cx="5291848" cy="5255274"/>
            <a:chOff x="543708" y="565235"/>
            <a:chExt cx="5884270" cy="5281808"/>
          </a:xfrm>
        </p:grpSpPr>
        <p:pic>
          <p:nvPicPr>
            <p:cNvPr id="15" name="图形 3">
              <a:extLst>
                <a:ext uri="{FF2B5EF4-FFF2-40B4-BE49-F238E27FC236}">
                  <a16:creationId xmlns:a16="http://schemas.microsoft.com/office/drawing/2014/main" id="{4160DB46-4944-2DE2-0EA1-561B99DCFA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543708" y="895645"/>
              <a:ext cx="5884270" cy="4951398"/>
            </a:xfrm>
            <a:prstGeom prst="rect">
              <a:avLst/>
            </a:prstGeom>
          </p:spPr>
        </p:pic>
        <p:pic>
          <p:nvPicPr>
            <p:cNvPr id="16" name="图形 72">
              <a:extLst>
                <a:ext uri="{FF2B5EF4-FFF2-40B4-BE49-F238E27FC236}">
                  <a16:creationId xmlns:a16="http://schemas.microsoft.com/office/drawing/2014/main" id="{AD555365-6410-6981-8C7D-7D99170B62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68563" y="565235"/>
              <a:ext cx="881950" cy="1417420"/>
            </a:xfrm>
            <a:prstGeom prst="rect">
              <a:avLst/>
            </a:prstGeom>
          </p:spPr>
        </p:pic>
        <p:pic>
          <p:nvPicPr>
            <p:cNvPr id="17" name="图形 73">
              <a:extLst>
                <a:ext uri="{FF2B5EF4-FFF2-40B4-BE49-F238E27FC236}">
                  <a16:creationId xmlns:a16="http://schemas.microsoft.com/office/drawing/2014/main" id="{D118F507-6BBF-E2CB-76E5-56CE1D278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78040" y="5115200"/>
              <a:ext cx="931499" cy="555317"/>
            </a:xfrm>
            <a:prstGeom prst="rect">
              <a:avLst/>
            </a:prstGeom>
          </p:spPr>
        </p:pic>
      </p:grpSp>
      <p:pic>
        <p:nvPicPr>
          <p:cNvPr id="18" name="图形 36">
            <a:extLst>
              <a:ext uri="{FF2B5EF4-FFF2-40B4-BE49-F238E27FC236}">
                <a16:creationId xmlns:a16="http://schemas.microsoft.com/office/drawing/2014/main" id="{9AC05CEC-0FF0-FC26-806D-918F04CE54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21166" y="5389067"/>
            <a:ext cx="597538" cy="10243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290F06-0BD3-2AC2-9AF0-518109BB2FC0}"/>
              </a:ext>
            </a:extLst>
          </p:cNvPr>
          <p:cNvSpPr txBox="1"/>
          <p:nvPr/>
        </p:nvSpPr>
        <p:spPr>
          <a:xfrm>
            <a:off x="3754626" y="-114002"/>
            <a:ext cx="7415117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 </a:t>
            </a:r>
            <a:endParaRPr lang="en-US" b="1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 </a:t>
            </a:r>
            <a:r>
              <a:rPr lang="en-US" sz="1600" b="1" i="1" dirty="0"/>
              <a:t>Total Business Volume : </a:t>
            </a:r>
            <a:r>
              <a:rPr lang="en-US" sz="1600" i="1" dirty="0"/>
              <a:t>1250 Orders Placed  | ₹11,22,034.65 Total Revenue Generated . This shows strong sales performance across all categories.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i="1" dirty="0"/>
              <a:t> Customer Base: </a:t>
            </a:r>
            <a:r>
              <a:rPr lang="en-US" sz="1600" i="1" dirty="0"/>
              <a:t>500 Total Customers Registered . With 95% repeat customer rate, indicating high customer loyalty and retention</a:t>
            </a:r>
            <a:r>
              <a:rPr lang="en-US" sz="1600" b="1" i="1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b="1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i="1" dirty="0"/>
              <a:t> Top Performing Category: </a:t>
            </a:r>
            <a:r>
              <a:rPr lang="en-US" sz="1600" i="1" dirty="0"/>
              <a:t>Serum is the best-selling category . Alpha Arbutin 2% Serum sold 166 units and 10% Niacinamide Face Serum sold 144 units.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i="1" dirty="0"/>
              <a:t> Core Demographics: </a:t>
            </a:r>
            <a:r>
              <a:rPr lang="en-US" sz="1600" i="1" dirty="0"/>
              <a:t>25-34 age group is the largest segment with 244 customers . This represents 49% of the total customer base, showing young adults are the primary buyers.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i="1" dirty="0"/>
              <a:t> Geographical Reach: </a:t>
            </a:r>
            <a:r>
              <a:rPr lang="en-US" sz="1600" i="1" dirty="0"/>
              <a:t>Maharashtra leads with 185 orders and ₹1,90,328 revenue . Followed by Gujarat with 164 orders, making West India the strongest market.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600" i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i="1" dirty="0"/>
              <a:t> Inventory Health: </a:t>
            </a:r>
            <a:r>
              <a:rPr lang="en-US" sz="1600" i="1" dirty="0"/>
              <a:t>Multi-Peptide Eye Cream has the lowest stock at 110 units.  Granactive Retinoid 2% Serum is both highest cost at ₹358 and 2nd lowest stock at 120 units.</a:t>
            </a:r>
            <a:endParaRPr lang="en-US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6D94A4-F58D-E048-573B-4B1FF8651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714" y="-158743"/>
            <a:ext cx="8301248" cy="413615"/>
          </a:xfrm>
        </p:spPr>
        <p:txBody>
          <a:bodyPr>
            <a:normAutofit fontScale="90000"/>
          </a:bodyPr>
          <a:lstStyle/>
          <a:p>
            <a:r>
              <a:rPr lang="en-US" dirty="0"/>
              <a:t> </a:t>
            </a:r>
            <a:r>
              <a:rPr lang="en-US" b="1" i="1" dirty="0"/>
              <a:t>Key Performance Indicator</a:t>
            </a:r>
            <a:br>
              <a:rPr lang="en-US" b="1" i="1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8219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27C8-5A86-A435-2ABA-5D845AC8B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1">
            <a:extLst>
              <a:ext uri="{FF2B5EF4-FFF2-40B4-BE49-F238E27FC236}">
                <a16:creationId xmlns:a16="http://schemas.microsoft.com/office/drawing/2014/main" id="{8686B1E0-295E-6A8C-4EAC-26CAE4BD83D7}"/>
              </a:ext>
            </a:extLst>
          </p:cNvPr>
          <p:cNvGrpSpPr/>
          <p:nvPr/>
        </p:nvGrpSpPr>
        <p:grpSpPr>
          <a:xfrm>
            <a:off x="-1391055" y="-1279721"/>
            <a:ext cx="13865157" cy="8449005"/>
            <a:chOff x="0" y="-10794"/>
            <a:chExt cx="12192000" cy="6868794"/>
          </a:xfrm>
        </p:grpSpPr>
        <p:sp>
          <p:nvSpPr>
            <p:cNvPr id="6" name="矩形 4">
              <a:extLst>
                <a:ext uri="{FF2B5EF4-FFF2-40B4-BE49-F238E27FC236}">
                  <a16:creationId xmlns:a16="http://schemas.microsoft.com/office/drawing/2014/main" id="{250EDCF5-3FAA-E62F-AD54-E3F0D40F24BC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  <p:pic>
          <p:nvPicPr>
            <p:cNvPr id="7" name="图形 22">
              <a:extLst>
                <a:ext uri="{FF2B5EF4-FFF2-40B4-BE49-F238E27FC236}">
                  <a16:creationId xmlns:a16="http://schemas.microsoft.com/office/drawing/2014/main" id="{AD7B09F6-9F46-0879-1EEB-52A70755AB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0" y="3523674"/>
              <a:ext cx="1523999" cy="3334325"/>
            </a:xfrm>
            <a:prstGeom prst="rect">
              <a:avLst/>
            </a:prstGeom>
          </p:spPr>
        </p:pic>
        <p:pic>
          <p:nvPicPr>
            <p:cNvPr id="8" name="图形 21">
              <a:extLst>
                <a:ext uri="{FF2B5EF4-FFF2-40B4-BE49-F238E27FC236}">
                  <a16:creationId xmlns:a16="http://schemas.microsoft.com/office/drawing/2014/main" id="{BC1A7EE1-7BEF-883E-8674-018540A439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1088" y="-10794"/>
              <a:ext cx="2960912" cy="3446144"/>
            </a:xfrm>
            <a:prstGeom prst="rect">
              <a:avLst/>
            </a:prstGeom>
          </p:spPr>
        </p:pic>
        <p:sp>
          <p:nvSpPr>
            <p:cNvPr id="9" name="矩形: 圆角 6">
              <a:extLst>
                <a:ext uri="{FF2B5EF4-FFF2-40B4-BE49-F238E27FC236}">
                  <a16:creationId xmlns:a16="http://schemas.microsoft.com/office/drawing/2014/main" id="{B62511E9-AF81-A0A8-337C-CAA35ECBB8DE}"/>
                </a:ext>
              </a:extLst>
            </p:cNvPr>
            <p:cNvSpPr/>
            <p:nvPr/>
          </p:nvSpPr>
          <p:spPr>
            <a:xfrm>
              <a:off x="384920" y="330200"/>
              <a:ext cx="11337179" cy="6274735"/>
            </a:xfrm>
            <a:prstGeom prst="roundRect">
              <a:avLst>
                <a:gd name="adj" fmla="val 7223"/>
              </a:avLst>
            </a:prstGeom>
            <a:solidFill>
              <a:srgbClr val="F8F8F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Mona-Sans Black Italic" pitchFamily="2" charset="0"/>
              </a:endParaRPr>
            </a:p>
          </p:txBody>
        </p:sp>
      </p:grpSp>
      <p:sp>
        <p:nvSpPr>
          <p:cNvPr id="10" name="矩形: 圆角 6">
            <a:extLst>
              <a:ext uri="{FF2B5EF4-FFF2-40B4-BE49-F238E27FC236}">
                <a16:creationId xmlns:a16="http://schemas.microsoft.com/office/drawing/2014/main" id="{1EEEF61F-32C4-0339-C6B9-1F4C17C38EB8}"/>
              </a:ext>
            </a:extLst>
          </p:cNvPr>
          <p:cNvSpPr/>
          <p:nvPr/>
        </p:nvSpPr>
        <p:spPr>
          <a:xfrm>
            <a:off x="-508562" y="-61874"/>
            <a:ext cx="11944392" cy="6197600"/>
          </a:xfrm>
          <a:prstGeom prst="roundRect">
            <a:avLst>
              <a:gd name="adj" fmla="val 7223"/>
            </a:avLst>
          </a:prstGeom>
          <a:solidFill>
            <a:srgbClr val="F8F8F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400" dirty="0">
              <a:solidFill>
                <a:schemeClr val="tx1"/>
              </a:solidFill>
              <a:cs typeface="Mona-Sans Black Italic" pitchFamily="2" charset="0"/>
            </a:endParaRPr>
          </a:p>
        </p:txBody>
      </p:sp>
      <p:grpSp>
        <p:nvGrpSpPr>
          <p:cNvPr id="11" name="组合 40">
            <a:extLst>
              <a:ext uri="{FF2B5EF4-FFF2-40B4-BE49-F238E27FC236}">
                <a16:creationId xmlns:a16="http://schemas.microsoft.com/office/drawing/2014/main" id="{E4F3584C-F2E3-2CD1-921F-B0DD5594DEC8}"/>
              </a:ext>
            </a:extLst>
          </p:cNvPr>
          <p:cNvGrpSpPr/>
          <p:nvPr/>
        </p:nvGrpSpPr>
        <p:grpSpPr>
          <a:xfrm>
            <a:off x="6352161" y="-356784"/>
            <a:ext cx="5246807" cy="5168923"/>
            <a:chOff x="5096462" y="614812"/>
            <a:chExt cx="6334581" cy="5982959"/>
          </a:xfrm>
        </p:grpSpPr>
        <p:pic>
          <p:nvPicPr>
            <p:cNvPr id="12" name="图形 17">
              <a:extLst>
                <a:ext uri="{FF2B5EF4-FFF2-40B4-BE49-F238E27FC236}">
                  <a16:creationId xmlns:a16="http://schemas.microsoft.com/office/drawing/2014/main" id="{88E35508-633E-5CDC-F7FA-D98A0F9530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540686" y="614812"/>
              <a:ext cx="3890357" cy="5493657"/>
            </a:xfrm>
            <a:prstGeom prst="rect">
              <a:avLst/>
            </a:prstGeom>
          </p:spPr>
        </p:pic>
        <p:pic>
          <p:nvPicPr>
            <p:cNvPr id="13" name="图形 39">
              <a:extLst>
                <a:ext uri="{FF2B5EF4-FFF2-40B4-BE49-F238E27FC236}">
                  <a16:creationId xmlns:a16="http://schemas.microsoft.com/office/drawing/2014/main" id="{2E85CF02-F993-44B4-3401-B00945016E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096462" y="2488200"/>
              <a:ext cx="3950748" cy="4109571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A20D35E-4BCF-BAE4-094A-13617660FEC6}"/>
              </a:ext>
            </a:extLst>
          </p:cNvPr>
          <p:cNvGrpSpPr/>
          <p:nvPr/>
        </p:nvGrpSpPr>
        <p:grpSpPr>
          <a:xfrm>
            <a:off x="-413104" y="-756753"/>
            <a:ext cx="425559" cy="448935"/>
            <a:chOff x="1066078" y="5191314"/>
            <a:chExt cx="425559" cy="448935"/>
          </a:xfrm>
        </p:grpSpPr>
        <p:sp>
          <p:nvSpPr>
            <p:cNvPr id="15" name="椭圆 65">
              <a:extLst>
                <a:ext uri="{FF2B5EF4-FFF2-40B4-BE49-F238E27FC236}">
                  <a16:creationId xmlns:a16="http://schemas.microsoft.com/office/drawing/2014/main" id="{F41DFB45-86BB-1A40-7B34-52AA32603B6B}"/>
                </a:ext>
              </a:extLst>
            </p:cNvPr>
            <p:cNvSpPr/>
            <p:nvPr/>
          </p:nvSpPr>
          <p:spPr>
            <a:xfrm>
              <a:off x="1066078" y="5191314"/>
              <a:ext cx="425559" cy="448935"/>
            </a:xfrm>
            <a:prstGeom prst="ellipse">
              <a:avLst/>
            </a:prstGeom>
            <a:solidFill>
              <a:srgbClr val="F995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16" name="Oval 53">
              <a:extLst>
                <a:ext uri="{FF2B5EF4-FFF2-40B4-BE49-F238E27FC236}">
                  <a16:creationId xmlns:a16="http://schemas.microsoft.com/office/drawing/2014/main" id="{2E697CA3-65D5-332B-67E3-D61834C726EF}"/>
                </a:ext>
              </a:extLst>
            </p:cNvPr>
            <p:cNvSpPr/>
            <p:nvPr/>
          </p:nvSpPr>
          <p:spPr>
            <a:xfrm>
              <a:off x="1177022" y="5321080"/>
              <a:ext cx="203669" cy="212779"/>
            </a:xfrm>
            <a:custGeom>
              <a:avLst/>
              <a:gdLst>
                <a:gd name="connsiteX0" fmla="*/ 253679 w 510088"/>
                <a:gd name="connsiteY0" fmla="*/ 352010 h 532904"/>
                <a:gd name="connsiteX1" fmla="*/ 274110 w 510088"/>
                <a:gd name="connsiteY1" fmla="*/ 371777 h 532904"/>
                <a:gd name="connsiteX2" fmla="*/ 253679 w 510088"/>
                <a:gd name="connsiteY2" fmla="*/ 391543 h 532904"/>
                <a:gd name="connsiteX3" fmla="*/ 233296 w 510088"/>
                <a:gd name="connsiteY3" fmla="*/ 371777 h 532904"/>
                <a:gd name="connsiteX4" fmla="*/ 253679 w 510088"/>
                <a:gd name="connsiteY4" fmla="*/ 352010 h 532904"/>
                <a:gd name="connsiteX5" fmla="*/ 256585 w 510088"/>
                <a:gd name="connsiteY5" fmla="*/ 157728 h 532904"/>
                <a:gd name="connsiteX6" fmla="*/ 307018 w 510088"/>
                <a:gd name="connsiteY6" fmla="*/ 176399 h 532904"/>
                <a:gd name="connsiteX7" fmla="*/ 327020 w 510088"/>
                <a:gd name="connsiteY7" fmla="*/ 222695 h 532904"/>
                <a:gd name="connsiteX8" fmla="*/ 320829 w 510088"/>
                <a:gd name="connsiteY8" fmla="*/ 248463 h 532904"/>
                <a:gd name="connsiteX9" fmla="*/ 296112 w 510088"/>
                <a:gd name="connsiteY9" fmla="*/ 275850 h 532904"/>
                <a:gd name="connsiteX10" fmla="*/ 273491 w 510088"/>
                <a:gd name="connsiteY10" fmla="*/ 300713 h 532904"/>
                <a:gd name="connsiteX11" fmla="*/ 270062 w 510088"/>
                <a:gd name="connsiteY11" fmla="*/ 317193 h 532904"/>
                <a:gd name="connsiteX12" fmla="*/ 252870 w 510088"/>
                <a:gd name="connsiteY12" fmla="*/ 332720 h 532904"/>
                <a:gd name="connsiteX13" fmla="*/ 239869 w 510088"/>
                <a:gd name="connsiteY13" fmla="*/ 327005 h 532904"/>
                <a:gd name="connsiteX14" fmla="*/ 235773 w 510088"/>
                <a:gd name="connsiteY14" fmla="*/ 313668 h 532904"/>
                <a:gd name="connsiteX15" fmla="*/ 241250 w 510088"/>
                <a:gd name="connsiteY15" fmla="*/ 293378 h 532904"/>
                <a:gd name="connsiteX16" fmla="*/ 266205 w 510088"/>
                <a:gd name="connsiteY16" fmla="*/ 260847 h 532904"/>
                <a:gd name="connsiteX17" fmla="*/ 288016 w 510088"/>
                <a:gd name="connsiteY17" fmla="*/ 236460 h 532904"/>
                <a:gd name="connsiteX18" fmla="*/ 291731 w 510088"/>
                <a:gd name="connsiteY18" fmla="*/ 220838 h 532904"/>
                <a:gd name="connsiteX19" fmla="*/ 282254 w 510088"/>
                <a:gd name="connsiteY19" fmla="*/ 197928 h 532904"/>
                <a:gd name="connsiteX20" fmla="*/ 255584 w 510088"/>
                <a:gd name="connsiteY20" fmla="*/ 189259 h 532904"/>
                <a:gd name="connsiteX21" fmla="*/ 216961 w 510088"/>
                <a:gd name="connsiteY21" fmla="*/ 223648 h 532904"/>
                <a:gd name="connsiteX22" fmla="*/ 200102 w 510088"/>
                <a:gd name="connsiteY22" fmla="*/ 237651 h 532904"/>
                <a:gd name="connsiteX23" fmla="*/ 187292 w 510088"/>
                <a:gd name="connsiteY23" fmla="*/ 232173 h 532904"/>
                <a:gd name="connsiteX24" fmla="*/ 183101 w 510088"/>
                <a:gd name="connsiteY24" fmla="*/ 219409 h 532904"/>
                <a:gd name="connsiteX25" fmla="*/ 187625 w 510088"/>
                <a:gd name="connsiteY25" fmla="*/ 199642 h 532904"/>
                <a:gd name="connsiteX26" fmla="*/ 203817 w 510088"/>
                <a:gd name="connsiteY26" fmla="*/ 176399 h 532904"/>
                <a:gd name="connsiteX27" fmla="*/ 228677 w 510088"/>
                <a:gd name="connsiteY27" fmla="*/ 162205 h 532904"/>
                <a:gd name="connsiteX28" fmla="*/ 256585 w 510088"/>
                <a:gd name="connsiteY28" fmla="*/ 157728 h 532904"/>
                <a:gd name="connsiteX29" fmla="*/ 121141 w 510088"/>
                <a:gd name="connsiteY29" fmla="*/ 32143 h 532904"/>
                <a:gd name="connsiteX30" fmla="*/ 32095 w 510088"/>
                <a:gd name="connsiteY30" fmla="*/ 121190 h 532904"/>
                <a:gd name="connsiteX31" fmla="*/ 32095 w 510088"/>
                <a:gd name="connsiteY31" fmla="*/ 411761 h 532904"/>
                <a:gd name="connsiteX32" fmla="*/ 121141 w 510088"/>
                <a:gd name="connsiteY32" fmla="*/ 500809 h 532904"/>
                <a:gd name="connsiteX33" fmla="*/ 388995 w 510088"/>
                <a:gd name="connsiteY33" fmla="*/ 500809 h 532904"/>
                <a:gd name="connsiteX34" fmla="*/ 478041 w 510088"/>
                <a:gd name="connsiteY34" fmla="*/ 411761 h 532904"/>
                <a:gd name="connsiteX35" fmla="*/ 478041 w 510088"/>
                <a:gd name="connsiteY35" fmla="*/ 121190 h 532904"/>
                <a:gd name="connsiteX36" fmla="*/ 388995 w 510088"/>
                <a:gd name="connsiteY36" fmla="*/ 32143 h 532904"/>
                <a:gd name="connsiteX37" fmla="*/ 121141 w 510088"/>
                <a:gd name="connsiteY37" fmla="*/ 0 h 532904"/>
                <a:gd name="connsiteX38" fmla="*/ 388995 w 510088"/>
                <a:gd name="connsiteY38" fmla="*/ 0 h 532904"/>
                <a:gd name="connsiteX39" fmla="*/ 510088 w 510088"/>
                <a:gd name="connsiteY39" fmla="*/ 121190 h 532904"/>
                <a:gd name="connsiteX40" fmla="*/ 510088 w 510088"/>
                <a:gd name="connsiteY40" fmla="*/ 411761 h 532904"/>
                <a:gd name="connsiteX41" fmla="*/ 388995 w 510088"/>
                <a:gd name="connsiteY41" fmla="*/ 532904 h 532904"/>
                <a:gd name="connsiteX42" fmla="*/ 121141 w 510088"/>
                <a:gd name="connsiteY42" fmla="*/ 532904 h 532904"/>
                <a:gd name="connsiteX43" fmla="*/ 0 w 510088"/>
                <a:gd name="connsiteY43" fmla="*/ 411761 h 532904"/>
                <a:gd name="connsiteX44" fmla="*/ 0 w 510088"/>
                <a:gd name="connsiteY44" fmla="*/ 121143 h 532904"/>
                <a:gd name="connsiteX45" fmla="*/ 121141 w 510088"/>
                <a:gd name="connsiteY45" fmla="*/ 0 h 53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510088" h="532904">
                  <a:moveTo>
                    <a:pt x="253679" y="352010"/>
                  </a:moveTo>
                  <a:cubicBezTo>
                    <a:pt x="265014" y="352010"/>
                    <a:pt x="274110" y="360869"/>
                    <a:pt x="274110" y="371777"/>
                  </a:cubicBezTo>
                  <a:cubicBezTo>
                    <a:pt x="274110" y="382684"/>
                    <a:pt x="264966" y="391543"/>
                    <a:pt x="253679" y="391543"/>
                  </a:cubicBezTo>
                  <a:cubicBezTo>
                    <a:pt x="242440" y="391543"/>
                    <a:pt x="233296" y="382684"/>
                    <a:pt x="233296" y="371777"/>
                  </a:cubicBezTo>
                  <a:cubicBezTo>
                    <a:pt x="233296" y="360869"/>
                    <a:pt x="242440" y="352010"/>
                    <a:pt x="253679" y="352010"/>
                  </a:cubicBezTo>
                  <a:close/>
                  <a:moveTo>
                    <a:pt x="256585" y="157728"/>
                  </a:moveTo>
                  <a:cubicBezTo>
                    <a:pt x="275777" y="157728"/>
                    <a:pt x="292731" y="164015"/>
                    <a:pt x="307018" y="176399"/>
                  </a:cubicBezTo>
                  <a:cubicBezTo>
                    <a:pt x="320353" y="187925"/>
                    <a:pt x="327163" y="203500"/>
                    <a:pt x="327020" y="222695"/>
                  </a:cubicBezTo>
                  <a:cubicBezTo>
                    <a:pt x="327020" y="232555"/>
                    <a:pt x="324925" y="241223"/>
                    <a:pt x="320829" y="248463"/>
                  </a:cubicBezTo>
                  <a:cubicBezTo>
                    <a:pt x="316829" y="255512"/>
                    <a:pt x="308828" y="264419"/>
                    <a:pt x="296112" y="275850"/>
                  </a:cubicBezTo>
                  <a:cubicBezTo>
                    <a:pt x="280730" y="290091"/>
                    <a:pt x="275301" y="297236"/>
                    <a:pt x="273491" y="300713"/>
                  </a:cubicBezTo>
                  <a:cubicBezTo>
                    <a:pt x="271729" y="304142"/>
                    <a:pt x="270538" y="309667"/>
                    <a:pt x="270062" y="317193"/>
                  </a:cubicBezTo>
                  <a:cubicBezTo>
                    <a:pt x="269443" y="325861"/>
                    <a:pt x="261918" y="332720"/>
                    <a:pt x="252870" y="332720"/>
                  </a:cubicBezTo>
                  <a:cubicBezTo>
                    <a:pt x="247869" y="332720"/>
                    <a:pt x="243155" y="330624"/>
                    <a:pt x="239869" y="327005"/>
                  </a:cubicBezTo>
                  <a:cubicBezTo>
                    <a:pt x="236582" y="323385"/>
                    <a:pt x="235106" y="318479"/>
                    <a:pt x="235773" y="313668"/>
                  </a:cubicBezTo>
                  <a:cubicBezTo>
                    <a:pt x="236821" y="306095"/>
                    <a:pt x="238678" y="299284"/>
                    <a:pt x="241250" y="293378"/>
                  </a:cubicBezTo>
                  <a:cubicBezTo>
                    <a:pt x="245155" y="284233"/>
                    <a:pt x="253346" y="273611"/>
                    <a:pt x="266205" y="260847"/>
                  </a:cubicBezTo>
                  <a:cubicBezTo>
                    <a:pt x="277920" y="249177"/>
                    <a:pt x="285254" y="240985"/>
                    <a:pt x="288016" y="236460"/>
                  </a:cubicBezTo>
                  <a:cubicBezTo>
                    <a:pt x="290493" y="232459"/>
                    <a:pt x="291731" y="227220"/>
                    <a:pt x="291731" y="220838"/>
                  </a:cubicBezTo>
                  <a:cubicBezTo>
                    <a:pt x="291731" y="211169"/>
                    <a:pt x="288635" y="203643"/>
                    <a:pt x="282254" y="197928"/>
                  </a:cubicBezTo>
                  <a:cubicBezTo>
                    <a:pt x="275777" y="192117"/>
                    <a:pt x="267014" y="189259"/>
                    <a:pt x="255584" y="189259"/>
                  </a:cubicBezTo>
                  <a:cubicBezTo>
                    <a:pt x="233487" y="189259"/>
                    <a:pt x="220914" y="200500"/>
                    <a:pt x="216961" y="223648"/>
                  </a:cubicBezTo>
                  <a:cubicBezTo>
                    <a:pt x="215580" y="231745"/>
                    <a:pt x="208484" y="237651"/>
                    <a:pt x="200102" y="237651"/>
                  </a:cubicBezTo>
                  <a:cubicBezTo>
                    <a:pt x="195150" y="237651"/>
                    <a:pt x="190530" y="235698"/>
                    <a:pt x="187292" y="232173"/>
                  </a:cubicBezTo>
                  <a:cubicBezTo>
                    <a:pt x="184101" y="228697"/>
                    <a:pt x="182529" y="224076"/>
                    <a:pt x="183101" y="219409"/>
                  </a:cubicBezTo>
                  <a:cubicBezTo>
                    <a:pt x="183958" y="211645"/>
                    <a:pt x="185482" y="204977"/>
                    <a:pt x="187625" y="199642"/>
                  </a:cubicBezTo>
                  <a:cubicBezTo>
                    <a:pt x="189816" y="194308"/>
                    <a:pt x="194816" y="184115"/>
                    <a:pt x="203817" y="176399"/>
                  </a:cubicBezTo>
                  <a:cubicBezTo>
                    <a:pt x="211199" y="170017"/>
                    <a:pt x="219581" y="165254"/>
                    <a:pt x="228677" y="162205"/>
                  </a:cubicBezTo>
                  <a:cubicBezTo>
                    <a:pt x="237678" y="159252"/>
                    <a:pt x="247060" y="157728"/>
                    <a:pt x="256585" y="157728"/>
                  </a:cubicBezTo>
                  <a:close/>
                  <a:moveTo>
                    <a:pt x="121141" y="32143"/>
                  </a:moveTo>
                  <a:cubicBezTo>
                    <a:pt x="71999" y="32143"/>
                    <a:pt x="32095" y="72048"/>
                    <a:pt x="32095" y="121190"/>
                  </a:cubicBezTo>
                  <a:lnTo>
                    <a:pt x="32095" y="411761"/>
                  </a:lnTo>
                  <a:cubicBezTo>
                    <a:pt x="32095" y="460856"/>
                    <a:pt x="71999" y="500809"/>
                    <a:pt x="121141" y="500809"/>
                  </a:cubicBezTo>
                  <a:lnTo>
                    <a:pt x="388995" y="500809"/>
                  </a:lnTo>
                  <a:cubicBezTo>
                    <a:pt x="438089" y="500809"/>
                    <a:pt x="478041" y="460856"/>
                    <a:pt x="478041" y="411761"/>
                  </a:cubicBezTo>
                  <a:lnTo>
                    <a:pt x="478041" y="121190"/>
                  </a:lnTo>
                  <a:cubicBezTo>
                    <a:pt x="478041" y="72048"/>
                    <a:pt x="438089" y="32143"/>
                    <a:pt x="388995" y="32143"/>
                  </a:cubicBezTo>
                  <a:close/>
                  <a:moveTo>
                    <a:pt x="121141" y="0"/>
                  </a:moveTo>
                  <a:lnTo>
                    <a:pt x="388995" y="0"/>
                  </a:lnTo>
                  <a:cubicBezTo>
                    <a:pt x="455756" y="0"/>
                    <a:pt x="510088" y="54333"/>
                    <a:pt x="510088" y="121190"/>
                  </a:cubicBezTo>
                  <a:lnTo>
                    <a:pt x="510088" y="411761"/>
                  </a:lnTo>
                  <a:cubicBezTo>
                    <a:pt x="510088" y="478571"/>
                    <a:pt x="455756" y="532904"/>
                    <a:pt x="388995" y="532904"/>
                  </a:cubicBezTo>
                  <a:lnTo>
                    <a:pt x="121141" y="532904"/>
                  </a:lnTo>
                  <a:cubicBezTo>
                    <a:pt x="54332" y="532904"/>
                    <a:pt x="0" y="478571"/>
                    <a:pt x="0" y="411761"/>
                  </a:cubicBezTo>
                  <a:lnTo>
                    <a:pt x="0" y="121143"/>
                  </a:lnTo>
                  <a:cubicBezTo>
                    <a:pt x="0" y="54333"/>
                    <a:pt x="54332" y="0"/>
                    <a:pt x="12114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D48A71A-7CE3-E6EF-7D98-5BD79EF61EB4}"/>
              </a:ext>
            </a:extLst>
          </p:cNvPr>
          <p:cNvGrpSpPr/>
          <p:nvPr/>
        </p:nvGrpSpPr>
        <p:grpSpPr>
          <a:xfrm>
            <a:off x="164770" y="-745064"/>
            <a:ext cx="425559" cy="425559"/>
            <a:chOff x="1066078" y="5214690"/>
            <a:chExt cx="425559" cy="425559"/>
          </a:xfrm>
        </p:grpSpPr>
        <p:sp>
          <p:nvSpPr>
            <p:cNvPr id="18" name="椭圆 68">
              <a:extLst>
                <a:ext uri="{FF2B5EF4-FFF2-40B4-BE49-F238E27FC236}">
                  <a16:creationId xmlns:a16="http://schemas.microsoft.com/office/drawing/2014/main" id="{F6AD6A7F-5306-8321-441F-DF391A0FABE7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F995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19" name="Oval 53">
              <a:extLst>
                <a:ext uri="{FF2B5EF4-FFF2-40B4-BE49-F238E27FC236}">
                  <a16:creationId xmlns:a16="http://schemas.microsoft.com/office/drawing/2014/main" id="{F7D9FE33-90F6-583F-92FA-C8C506CCC1DF}"/>
                </a:ext>
              </a:extLst>
            </p:cNvPr>
            <p:cNvSpPr/>
            <p:nvPr/>
          </p:nvSpPr>
          <p:spPr>
            <a:xfrm>
              <a:off x="1177004" y="5321080"/>
              <a:ext cx="203705" cy="212779"/>
            </a:xfrm>
            <a:custGeom>
              <a:avLst/>
              <a:gdLst>
                <a:gd name="connsiteX0" fmla="*/ 170887 w 507806"/>
                <a:gd name="connsiteY0" fmla="*/ 165466 h 530424"/>
                <a:gd name="connsiteX1" fmla="*/ 190890 w 507806"/>
                <a:gd name="connsiteY1" fmla="*/ 185475 h 530424"/>
                <a:gd name="connsiteX2" fmla="*/ 253804 w 507806"/>
                <a:gd name="connsiteY2" fmla="*/ 248454 h 530424"/>
                <a:gd name="connsiteX3" fmla="*/ 316718 w 507806"/>
                <a:gd name="connsiteY3" fmla="*/ 185475 h 530424"/>
                <a:gd name="connsiteX4" fmla="*/ 336721 w 507806"/>
                <a:gd name="connsiteY4" fmla="*/ 165466 h 530424"/>
                <a:gd name="connsiteX5" fmla="*/ 356629 w 507806"/>
                <a:gd name="connsiteY5" fmla="*/ 185475 h 530424"/>
                <a:gd name="connsiteX6" fmla="*/ 253756 w 507806"/>
                <a:gd name="connsiteY6" fmla="*/ 288375 h 530424"/>
                <a:gd name="connsiteX7" fmla="*/ 150884 w 507806"/>
                <a:gd name="connsiteY7" fmla="*/ 185475 h 530424"/>
                <a:gd name="connsiteX8" fmla="*/ 170887 w 507806"/>
                <a:gd name="connsiteY8" fmla="*/ 165466 h 530424"/>
                <a:gd name="connsiteX9" fmla="*/ 120571 w 507806"/>
                <a:gd name="connsiteY9" fmla="*/ 31904 h 530424"/>
                <a:gd name="connsiteX10" fmla="*/ 31952 w 507806"/>
                <a:gd name="connsiteY10" fmla="*/ 120570 h 530424"/>
                <a:gd name="connsiteX11" fmla="*/ 31952 w 507806"/>
                <a:gd name="connsiteY11" fmla="*/ 409854 h 530424"/>
                <a:gd name="connsiteX12" fmla="*/ 120571 w 507806"/>
                <a:gd name="connsiteY12" fmla="*/ 498472 h 530424"/>
                <a:gd name="connsiteX13" fmla="*/ 387140 w 507806"/>
                <a:gd name="connsiteY13" fmla="*/ 498472 h 530424"/>
                <a:gd name="connsiteX14" fmla="*/ 475759 w 507806"/>
                <a:gd name="connsiteY14" fmla="*/ 409854 h 530424"/>
                <a:gd name="connsiteX15" fmla="*/ 475806 w 507806"/>
                <a:gd name="connsiteY15" fmla="*/ 409854 h 530424"/>
                <a:gd name="connsiteX16" fmla="*/ 475806 w 507806"/>
                <a:gd name="connsiteY16" fmla="*/ 120570 h 530424"/>
                <a:gd name="connsiteX17" fmla="*/ 387188 w 507806"/>
                <a:gd name="connsiteY17" fmla="*/ 31904 h 530424"/>
                <a:gd name="connsiteX18" fmla="*/ 120571 w 507806"/>
                <a:gd name="connsiteY18" fmla="*/ 0 h 530424"/>
                <a:gd name="connsiteX19" fmla="*/ 387140 w 507806"/>
                <a:gd name="connsiteY19" fmla="*/ 0 h 530424"/>
                <a:gd name="connsiteX20" fmla="*/ 507806 w 507806"/>
                <a:gd name="connsiteY20" fmla="*/ 120570 h 530424"/>
                <a:gd name="connsiteX21" fmla="*/ 507806 w 507806"/>
                <a:gd name="connsiteY21" fmla="*/ 409854 h 530424"/>
                <a:gd name="connsiteX22" fmla="*/ 387188 w 507806"/>
                <a:gd name="connsiteY22" fmla="*/ 530424 h 530424"/>
                <a:gd name="connsiteX23" fmla="*/ 120571 w 507806"/>
                <a:gd name="connsiteY23" fmla="*/ 530424 h 530424"/>
                <a:gd name="connsiteX24" fmla="*/ 0 w 507806"/>
                <a:gd name="connsiteY24" fmla="*/ 409854 h 530424"/>
                <a:gd name="connsiteX25" fmla="*/ 0 w 507806"/>
                <a:gd name="connsiteY25" fmla="*/ 120570 h 530424"/>
                <a:gd name="connsiteX26" fmla="*/ 120571 w 507806"/>
                <a:gd name="connsiteY26" fmla="*/ 0 h 53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07806" h="530424">
                  <a:moveTo>
                    <a:pt x="170887" y="165466"/>
                  </a:moveTo>
                  <a:cubicBezTo>
                    <a:pt x="181936" y="165466"/>
                    <a:pt x="190890" y="174470"/>
                    <a:pt x="190890" y="185475"/>
                  </a:cubicBezTo>
                  <a:cubicBezTo>
                    <a:pt x="190890" y="220204"/>
                    <a:pt x="219085" y="248454"/>
                    <a:pt x="253804" y="248454"/>
                  </a:cubicBezTo>
                  <a:cubicBezTo>
                    <a:pt x="288523" y="248454"/>
                    <a:pt x="316718" y="220204"/>
                    <a:pt x="316718" y="185475"/>
                  </a:cubicBezTo>
                  <a:cubicBezTo>
                    <a:pt x="316718" y="174422"/>
                    <a:pt x="325719" y="165466"/>
                    <a:pt x="336721" y="165466"/>
                  </a:cubicBezTo>
                  <a:cubicBezTo>
                    <a:pt x="347818" y="165466"/>
                    <a:pt x="356724" y="174422"/>
                    <a:pt x="356629" y="185475"/>
                  </a:cubicBezTo>
                  <a:cubicBezTo>
                    <a:pt x="356629" y="242261"/>
                    <a:pt x="310479" y="288375"/>
                    <a:pt x="253756" y="288375"/>
                  </a:cubicBezTo>
                  <a:cubicBezTo>
                    <a:pt x="196986" y="288375"/>
                    <a:pt x="150884" y="242261"/>
                    <a:pt x="150884" y="185475"/>
                  </a:cubicBezTo>
                  <a:cubicBezTo>
                    <a:pt x="150884" y="174422"/>
                    <a:pt x="159838" y="165466"/>
                    <a:pt x="170887" y="165466"/>
                  </a:cubicBezTo>
                  <a:close/>
                  <a:moveTo>
                    <a:pt x="120571" y="31904"/>
                  </a:moveTo>
                  <a:cubicBezTo>
                    <a:pt x="71714" y="31904"/>
                    <a:pt x="31952" y="71666"/>
                    <a:pt x="31952" y="120570"/>
                  </a:cubicBezTo>
                  <a:lnTo>
                    <a:pt x="31952" y="409854"/>
                  </a:lnTo>
                  <a:cubicBezTo>
                    <a:pt x="31952" y="458663"/>
                    <a:pt x="71714" y="498425"/>
                    <a:pt x="120571" y="498472"/>
                  </a:cubicBezTo>
                  <a:lnTo>
                    <a:pt x="387140" y="498472"/>
                  </a:lnTo>
                  <a:cubicBezTo>
                    <a:pt x="435997" y="498472"/>
                    <a:pt x="475759" y="458711"/>
                    <a:pt x="475759" y="409854"/>
                  </a:cubicBezTo>
                  <a:lnTo>
                    <a:pt x="475806" y="409854"/>
                  </a:lnTo>
                  <a:lnTo>
                    <a:pt x="475806" y="120570"/>
                  </a:lnTo>
                  <a:cubicBezTo>
                    <a:pt x="475806" y="71666"/>
                    <a:pt x="436045" y="31904"/>
                    <a:pt x="387188" y="31904"/>
                  </a:cubicBezTo>
                  <a:close/>
                  <a:moveTo>
                    <a:pt x="120571" y="0"/>
                  </a:moveTo>
                  <a:lnTo>
                    <a:pt x="387140" y="0"/>
                  </a:lnTo>
                  <a:cubicBezTo>
                    <a:pt x="453616" y="0"/>
                    <a:pt x="507711" y="54047"/>
                    <a:pt x="507806" y="120570"/>
                  </a:cubicBezTo>
                  <a:lnTo>
                    <a:pt x="507806" y="409854"/>
                  </a:lnTo>
                  <a:cubicBezTo>
                    <a:pt x="507806" y="476329"/>
                    <a:pt x="453664" y="530424"/>
                    <a:pt x="387188" y="530424"/>
                  </a:cubicBezTo>
                  <a:lnTo>
                    <a:pt x="120571" y="530424"/>
                  </a:lnTo>
                  <a:cubicBezTo>
                    <a:pt x="54095" y="530424"/>
                    <a:pt x="0" y="476329"/>
                    <a:pt x="0" y="409854"/>
                  </a:cubicBezTo>
                  <a:lnTo>
                    <a:pt x="0" y="120570"/>
                  </a:lnTo>
                  <a:cubicBezTo>
                    <a:pt x="0" y="54047"/>
                    <a:pt x="54095" y="0"/>
                    <a:pt x="1205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23" name="组合 57">
            <a:extLst>
              <a:ext uri="{FF2B5EF4-FFF2-40B4-BE49-F238E27FC236}">
                <a16:creationId xmlns:a16="http://schemas.microsoft.com/office/drawing/2014/main" id="{80B1FB69-870D-03AE-5F24-BF39EC15CFB2}"/>
              </a:ext>
            </a:extLst>
          </p:cNvPr>
          <p:cNvGrpSpPr/>
          <p:nvPr/>
        </p:nvGrpSpPr>
        <p:grpSpPr>
          <a:xfrm>
            <a:off x="10214625" y="6247698"/>
            <a:ext cx="425559" cy="425559"/>
            <a:chOff x="1066078" y="5214690"/>
            <a:chExt cx="425559" cy="425559"/>
          </a:xfrm>
        </p:grpSpPr>
        <p:sp>
          <p:nvSpPr>
            <p:cNvPr id="24" name="椭圆 52">
              <a:extLst>
                <a:ext uri="{FF2B5EF4-FFF2-40B4-BE49-F238E27FC236}">
                  <a16:creationId xmlns:a16="http://schemas.microsoft.com/office/drawing/2014/main" id="{C9E040D8-9B4E-6465-6BA2-D1E483D79CEA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25" name="Oval 53">
              <a:extLst>
                <a:ext uri="{FF2B5EF4-FFF2-40B4-BE49-F238E27FC236}">
                  <a16:creationId xmlns:a16="http://schemas.microsoft.com/office/drawing/2014/main" id="{5BCA0DFC-C4B0-C3A8-7F46-0A3AEB9AC60B}"/>
                </a:ext>
              </a:extLst>
            </p:cNvPr>
            <p:cNvSpPr/>
            <p:nvPr/>
          </p:nvSpPr>
          <p:spPr>
            <a:xfrm>
              <a:off x="1172468" y="5322898"/>
              <a:ext cx="212779" cy="209143"/>
            </a:xfrm>
            <a:custGeom>
              <a:avLst/>
              <a:gdLst>
                <a:gd name="T0" fmla="*/ 5103 w 12800"/>
                <a:gd name="T1" fmla="*/ 585 h 12582"/>
                <a:gd name="T2" fmla="*/ 5103 w 12800"/>
                <a:gd name="T3" fmla="*/ 5103 h 12582"/>
                <a:gd name="T4" fmla="*/ 585 w 12800"/>
                <a:gd name="T5" fmla="*/ 5103 h 12582"/>
                <a:gd name="T6" fmla="*/ 585 w 12800"/>
                <a:gd name="T7" fmla="*/ 585 h 12582"/>
                <a:gd name="T8" fmla="*/ 5103 w 12800"/>
                <a:gd name="T9" fmla="*/ 585 h 12582"/>
                <a:gd name="T10" fmla="*/ 5689 w 12800"/>
                <a:gd name="T11" fmla="*/ 0 h 12582"/>
                <a:gd name="T12" fmla="*/ 0 w 12800"/>
                <a:gd name="T13" fmla="*/ 0 h 12582"/>
                <a:gd name="T14" fmla="*/ 0 w 12800"/>
                <a:gd name="T15" fmla="*/ 5689 h 12582"/>
                <a:gd name="T16" fmla="*/ 5689 w 12800"/>
                <a:gd name="T17" fmla="*/ 5689 h 12582"/>
                <a:gd name="T18" fmla="*/ 5689 w 12800"/>
                <a:gd name="T19" fmla="*/ 0 h 12582"/>
                <a:gd name="T20" fmla="*/ 12215 w 12800"/>
                <a:gd name="T21" fmla="*/ 585 h 12582"/>
                <a:gd name="T22" fmla="*/ 12215 w 12800"/>
                <a:gd name="T23" fmla="*/ 5103 h 12582"/>
                <a:gd name="T24" fmla="*/ 7696 w 12800"/>
                <a:gd name="T25" fmla="*/ 5103 h 12582"/>
                <a:gd name="T26" fmla="*/ 7696 w 12800"/>
                <a:gd name="T27" fmla="*/ 585 h 12582"/>
                <a:gd name="T28" fmla="*/ 12215 w 12800"/>
                <a:gd name="T29" fmla="*/ 585 h 12582"/>
                <a:gd name="T30" fmla="*/ 12800 w 12800"/>
                <a:gd name="T31" fmla="*/ 0 h 12582"/>
                <a:gd name="T32" fmla="*/ 7111 w 12800"/>
                <a:gd name="T33" fmla="*/ 0 h 12582"/>
                <a:gd name="T34" fmla="*/ 7111 w 12800"/>
                <a:gd name="T35" fmla="*/ 5689 h 12582"/>
                <a:gd name="T36" fmla="*/ 12800 w 12800"/>
                <a:gd name="T37" fmla="*/ 5689 h 12582"/>
                <a:gd name="T38" fmla="*/ 12800 w 12800"/>
                <a:gd name="T39" fmla="*/ 0 h 12582"/>
                <a:gd name="T40" fmla="*/ 5103 w 12800"/>
                <a:gd name="T41" fmla="*/ 7479 h 12582"/>
                <a:gd name="T42" fmla="*/ 5103 w 12800"/>
                <a:gd name="T43" fmla="*/ 11997 h 12582"/>
                <a:gd name="T44" fmla="*/ 585 w 12800"/>
                <a:gd name="T45" fmla="*/ 11997 h 12582"/>
                <a:gd name="T46" fmla="*/ 585 w 12800"/>
                <a:gd name="T47" fmla="*/ 7479 h 12582"/>
                <a:gd name="T48" fmla="*/ 5103 w 12800"/>
                <a:gd name="T49" fmla="*/ 7479 h 12582"/>
                <a:gd name="T50" fmla="*/ 5689 w 12800"/>
                <a:gd name="T51" fmla="*/ 6893 h 12582"/>
                <a:gd name="T52" fmla="*/ 0 w 12800"/>
                <a:gd name="T53" fmla="*/ 6893 h 12582"/>
                <a:gd name="T54" fmla="*/ 0 w 12800"/>
                <a:gd name="T55" fmla="*/ 12582 h 12582"/>
                <a:gd name="T56" fmla="*/ 5689 w 12800"/>
                <a:gd name="T57" fmla="*/ 12582 h 12582"/>
                <a:gd name="T58" fmla="*/ 5689 w 12800"/>
                <a:gd name="T59" fmla="*/ 6893 h 12582"/>
                <a:gd name="T60" fmla="*/ 12215 w 12800"/>
                <a:gd name="T61" fmla="*/ 7479 h 12582"/>
                <a:gd name="T62" fmla="*/ 12215 w 12800"/>
                <a:gd name="T63" fmla="*/ 11997 h 12582"/>
                <a:gd name="T64" fmla="*/ 7696 w 12800"/>
                <a:gd name="T65" fmla="*/ 11997 h 12582"/>
                <a:gd name="T66" fmla="*/ 7696 w 12800"/>
                <a:gd name="T67" fmla="*/ 7479 h 12582"/>
                <a:gd name="T68" fmla="*/ 12215 w 12800"/>
                <a:gd name="T69" fmla="*/ 7479 h 12582"/>
                <a:gd name="T70" fmla="*/ 12800 w 12800"/>
                <a:gd name="T71" fmla="*/ 6893 h 12582"/>
                <a:gd name="T72" fmla="*/ 7111 w 12800"/>
                <a:gd name="T73" fmla="*/ 6893 h 12582"/>
                <a:gd name="T74" fmla="*/ 7111 w 12800"/>
                <a:gd name="T75" fmla="*/ 12582 h 12582"/>
                <a:gd name="T76" fmla="*/ 12800 w 12800"/>
                <a:gd name="T77" fmla="*/ 12582 h 12582"/>
                <a:gd name="T78" fmla="*/ 12800 w 12800"/>
                <a:gd name="T79" fmla="*/ 6893 h 12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2800" h="12582">
                  <a:moveTo>
                    <a:pt x="5103" y="585"/>
                  </a:moveTo>
                  <a:lnTo>
                    <a:pt x="5103" y="5103"/>
                  </a:lnTo>
                  <a:lnTo>
                    <a:pt x="585" y="5103"/>
                  </a:lnTo>
                  <a:lnTo>
                    <a:pt x="585" y="585"/>
                  </a:lnTo>
                  <a:lnTo>
                    <a:pt x="5103" y="585"/>
                  </a:lnTo>
                  <a:close/>
                  <a:moveTo>
                    <a:pt x="5689" y="0"/>
                  </a:moveTo>
                  <a:lnTo>
                    <a:pt x="0" y="0"/>
                  </a:lnTo>
                  <a:lnTo>
                    <a:pt x="0" y="5689"/>
                  </a:lnTo>
                  <a:lnTo>
                    <a:pt x="5689" y="5689"/>
                  </a:lnTo>
                  <a:lnTo>
                    <a:pt x="5689" y="0"/>
                  </a:lnTo>
                  <a:close/>
                  <a:moveTo>
                    <a:pt x="12215" y="585"/>
                  </a:moveTo>
                  <a:lnTo>
                    <a:pt x="12215" y="5103"/>
                  </a:lnTo>
                  <a:lnTo>
                    <a:pt x="7696" y="5103"/>
                  </a:lnTo>
                  <a:lnTo>
                    <a:pt x="7696" y="585"/>
                  </a:lnTo>
                  <a:lnTo>
                    <a:pt x="12215" y="585"/>
                  </a:lnTo>
                  <a:close/>
                  <a:moveTo>
                    <a:pt x="12800" y="0"/>
                  </a:moveTo>
                  <a:lnTo>
                    <a:pt x="7111" y="0"/>
                  </a:lnTo>
                  <a:lnTo>
                    <a:pt x="7111" y="5689"/>
                  </a:lnTo>
                  <a:lnTo>
                    <a:pt x="12800" y="5689"/>
                  </a:lnTo>
                  <a:lnTo>
                    <a:pt x="12800" y="0"/>
                  </a:lnTo>
                  <a:close/>
                  <a:moveTo>
                    <a:pt x="5103" y="7479"/>
                  </a:moveTo>
                  <a:lnTo>
                    <a:pt x="5103" y="11997"/>
                  </a:lnTo>
                  <a:lnTo>
                    <a:pt x="585" y="11997"/>
                  </a:lnTo>
                  <a:lnTo>
                    <a:pt x="585" y="7479"/>
                  </a:lnTo>
                  <a:lnTo>
                    <a:pt x="5103" y="7479"/>
                  </a:lnTo>
                  <a:close/>
                  <a:moveTo>
                    <a:pt x="5689" y="6893"/>
                  </a:moveTo>
                  <a:lnTo>
                    <a:pt x="0" y="6893"/>
                  </a:lnTo>
                  <a:lnTo>
                    <a:pt x="0" y="12582"/>
                  </a:lnTo>
                  <a:lnTo>
                    <a:pt x="5689" y="12582"/>
                  </a:lnTo>
                  <a:lnTo>
                    <a:pt x="5689" y="6893"/>
                  </a:lnTo>
                  <a:close/>
                  <a:moveTo>
                    <a:pt x="12215" y="7479"/>
                  </a:moveTo>
                  <a:lnTo>
                    <a:pt x="12215" y="11997"/>
                  </a:lnTo>
                  <a:lnTo>
                    <a:pt x="7696" y="11997"/>
                  </a:lnTo>
                  <a:lnTo>
                    <a:pt x="7696" y="7479"/>
                  </a:lnTo>
                  <a:lnTo>
                    <a:pt x="12215" y="7479"/>
                  </a:lnTo>
                  <a:close/>
                  <a:moveTo>
                    <a:pt x="12800" y="6893"/>
                  </a:moveTo>
                  <a:lnTo>
                    <a:pt x="7111" y="6893"/>
                  </a:lnTo>
                  <a:lnTo>
                    <a:pt x="7111" y="12582"/>
                  </a:lnTo>
                  <a:lnTo>
                    <a:pt x="12800" y="12582"/>
                  </a:lnTo>
                  <a:lnTo>
                    <a:pt x="12800" y="68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346F806-799E-0D11-32CD-08F52F1E68D1}"/>
              </a:ext>
            </a:extLst>
          </p:cNvPr>
          <p:cNvGrpSpPr/>
          <p:nvPr/>
        </p:nvGrpSpPr>
        <p:grpSpPr>
          <a:xfrm>
            <a:off x="10864389" y="6217856"/>
            <a:ext cx="425559" cy="425559"/>
            <a:chOff x="1066078" y="5214690"/>
            <a:chExt cx="425559" cy="425559"/>
          </a:xfrm>
        </p:grpSpPr>
        <p:sp>
          <p:nvSpPr>
            <p:cNvPr id="27" name="椭圆 76">
              <a:extLst>
                <a:ext uri="{FF2B5EF4-FFF2-40B4-BE49-F238E27FC236}">
                  <a16:creationId xmlns:a16="http://schemas.microsoft.com/office/drawing/2014/main" id="{8E395022-D035-6CBC-6BC3-092D22819402}"/>
                </a:ext>
              </a:extLst>
            </p:cNvPr>
            <p:cNvSpPr/>
            <p:nvPr/>
          </p:nvSpPr>
          <p:spPr>
            <a:xfrm>
              <a:off x="1066078" y="5214690"/>
              <a:ext cx="425559" cy="425559"/>
            </a:xfrm>
            <a:prstGeom prst="ellipse">
              <a:avLst/>
            </a:prstGeom>
            <a:solidFill>
              <a:srgbClr val="7C7DF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  <p:sp>
          <p:nvSpPr>
            <p:cNvPr id="28" name="Oval 53">
              <a:extLst>
                <a:ext uri="{FF2B5EF4-FFF2-40B4-BE49-F238E27FC236}">
                  <a16:creationId xmlns:a16="http://schemas.microsoft.com/office/drawing/2014/main" id="{6818A86F-019B-CEA9-E7A2-6C4BBE68C7DC}"/>
                </a:ext>
              </a:extLst>
            </p:cNvPr>
            <p:cNvSpPr/>
            <p:nvPr/>
          </p:nvSpPr>
          <p:spPr>
            <a:xfrm>
              <a:off x="1172772" y="5321080"/>
              <a:ext cx="212169" cy="212779"/>
            </a:xfrm>
            <a:custGeom>
              <a:avLst/>
              <a:gdLst>
                <a:gd name="T0" fmla="*/ 8992 w 10880"/>
                <a:gd name="T1" fmla="*/ 128 h 10912"/>
                <a:gd name="T2" fmla="*/ 3616 w 10880"/>
                <a:gd name="T3" fmla="*/ 5504 h 10912"/>
                <a:gd name="T4" fmla="*/ 3520 w 10880"/>
                <a:gd name="T5" fmla="*/ 5760 h 10912"/>
                <a:gd name="T6" fmla="*/ 3680 w 10880"/>
                <a:gd name="T7" fmla="*/ 6944 h 10912"/>
                <a:gd name="T8" fmla="*/ 3936 w 10880"/>
                <a:gd name="T9" fmla="*/ 7200 h 10912"/>
                <a:gd name="T10" fmla="*/ 5120 w 10880"/>
                <a:gd name="T11" fmla="*/ 7360 h 10912"/>
                <a:gd name="T12" fmla="*/ 5376 w 10880"/>
                <a:gd name="T13" fmla="*/ 7264 h 10912"/>
                <a:gd name="T14" fmla="*/ 10752 w 10880"/>
                <a:gd name="T15" fmla="*/ 1888 h 10912"/>
                <a:gd name="T16" fmla="*/ 10752 w 10880"/>
                <a:gd name="T17" fmla="*/ 1440 h 10912"/>
                <a:gd name="T18" fmla="*/ 9408 w 10880"/>
                <a:gd name="T19" fmla="*/ 96 h 10912"/>
                <a:gd name="T20" fmla="*/ 8992 w 10880"/>
                <a:gd name="T21" fmla="*/ 128 h 10912"/>
                <a:gd name="T22" fmla="*/ 5088 w 10880"/>
                <a:gd name="T23" fmla="*/ 6752 h 10912"/>
                <a:gd name="T24" fmla="*/ 4288 w 10880"/>
                <a:gd name="T25" fmla="*/ 6624 h 10912"/>
                <a:gd name="T26" fmla="*/ 4160 w 10880"/>
                <a:gd name="T27" fmla="*/ 5824 h 10912"/>
                <a:gd name="T28" fmla="*/ 8288 w 10880"/>
                <a:gd name="T29" fmla="*/ 1696 h 10912"/>
                <a:gd name="T30" fmla="*/ 9184 w 10880"/>
                <a:gd name="T31" fmla="*/ 2592 h 10912"/>
                <a:gd name="T32" fmla="*/ 5088 w 10880"/>
                <a:gd name="T33" fmla="*/ 6752 h 10912"/>
                <a:gd name="T34" fmla="*/ 10112 w 10880"/>
                <a:gd name="T35" fmla="*/ 1696 h 10912"/>
                <a:gd name="T36" fmla="*/ 9664 w 10880"/>
                <a:gd name="T37" fmla="*/ 2144 h 10912"/>
                <a:gd name="T38" fmla="*/ 8768 w 10880"/>
                <a:gd name="T39" fmla="*/ 1248 h 10912"/>
                <a:gd name="T40" fmla="*/ 9216 w 10880"/>
                <a:gd name="T41" fmla="*/ 800 h 10912"/>
                <a:gd name="T42" fmla="*/ 10112 w 10880"/>
                <a:gd name="T43" fmla="*/ 1696 h 10912"/>
                <a:gd name="T44" fmla="*/ 10240 w 10880"/>
                <a:gd name="T45" fmla="*/ 10272 h 10912"/>
                <a:gd name="T46" fmla="*/ 640 w 10880"/>
                <a:gd name="T47" fmla="*/ 10272 h 10912"/>
                <a:gd name="T48" fmla="*/ 640 w 10880"/>
                <a:gd name="T49" fmla="*/ 672 h 10912"/>
                <a:gd name="T50" fmla="*/ 6720 w 10880"/>
                <a:gd name="T51" fmla="*/ 672 h 10912"/>
                <a:gd name="T52" fmla="*/ 7040 w 10880"/>
                <a:gd name="T53" fmla="*/ 352 h 10912"/>
                <a:gd name="T54" fmla="*/ 6720 w 10880"/>
                <a:gd name="T55" fmla="*/ 32 h 10912"/>
                <a:gd name="T56" fmla="*/ 320 w 10880"/>
                <a:gd name="T57" fmla="*/ 32 h 10912"/>
                <a:gd name="T58" fmla="*/ 0 w 10880"/>
                <a:gd name="T59" fmla="*/ 352 h 10912"/>
                <a:gd name="T60" fmla="*/ 0 w 10880"/>
                <a:gd name="T61" fmla="*/ 10592 h 10912"/>
                <a:gd name="T62" fmla="*/ 320 w 10880"/>
                <a:gd name="T63" fmla="*/ 10912 h 10912"/>
                <a:gd name="T64" fmla="*/ 10560 w 10880"/>
                <a:gd name="T65" fmla="*/ 10912 h 10912"/>
                <a:gd name="T66" fmla="*/ 10880 w 10880"/>
                <a:gd name="T67" fmla="*/ 10592 h 10912"/>
                <a:gd name="T68" fmla="*/ 10880 w 10880"/>
                <a:gd name="T69" fmla="*/ 4192 h 10912"/>
                <a:gd name="T70" fmla="*/ 10560 w 10880"/>
                <a:gd name="T71" fmla="*/ 3872 h 10912"/>
                <a:gd name="T72" fmla="*/ 10240 w 10880"/>
                <a:gd name="T73" fmla="*/ 4192 h 10912"/>
                <a:gd name="T74" fmla="*/ 10240 w 10880"/>
                <a:gd name="T75" fmla="*/ 10272 h 109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0880" h="10912">
                  <a:moveTo>
                    <a:pt x="8992" y="128"/>
                  </a:moveTo>
                  <a:lnTo>
                    <a:pt x="3616" y="5504"/>
                  </a:lnTo>
                  <a:cubicBezTo>
                    <a:pt x="3552" y="5568"/>
                    <a:pt x="3520" y="5664"/>
                    <a:pt x="3520" y="5760"/>
                  </a:cubicBezTo>
                  <a:lnTo>
                    <a:pt x="3680" y="6944"/>
                  </a:lnTo>
                  <a:cubicBezTo>
                    <a:pt x="3712" y="7072"/>
                    <a:pt x="3808" y="7200"/>
                    <a:pt x="3936" y="7200"/>
                  </a:cubicBezTo>
                  <a:lnTo>
                    <a:pt x="5120" y="7360"/>
                  </a:lnTo>
                  <a:cubicBezTo>
                    <a:pt x="5216" y="7360"/>
                    <a:pt x="5312" y="7328"/>
                    <a:pt x="5376" y="7264"/>
                  </a:cubicBezTo>
                  <a:lnTo>
                    <a:pt x="10752" y="1888"/>
                  </a:lnTo>
                  <a:cubicBezTo>
                    <a:pt x="10880" y="1760"/>
                    <a:pt x="10880" y="1568"/>
                    <a:pt x="10752" y="1440"/>
                  </a:cubicBezTo>
                  <a:lnTo>
                    <a:pt x="9408" y="96"/>
                  </a:lnTo>
                  <a:cubicBezTo>
                    <a:pt x="9312" y="0"/>
                    <a:pt x="9088" y="0"/>
                    <a:pt x="8992" y="128"/>
                  </a:cubicBezTo>
                  <a:close/>
                  <a:moveTo>
                    <a:pt x="5088" y="6752"/>
                  </a:moveTo>
                  <a:lnTo>
                    <a:pt x="4288" y="6624"/>
                  </a:lnTo>
                  <a:lnTo>
                    <a:pt x="4160" y="5824"/>
                  </a:lnTo>
                  <a:lnTo>
                    <a:pt x="8288" y="1696"/>
                  </a:lnTo>
                  <a:lnTo>
                    <a:pt x="9184" y="2592"/>
                  </a:lnTo>
                  <a:lnTo>
                    <a:pt x="5088" y="6752"/>
                  </a:lnTo>
                  <a:close/>
                  <a:moveTo>
                    <a:pt x="10112" y="1696"/>
                  </a:moveTo>
                  <a:lnTo>
                    <a:pt x="9664" y="2144"/>
                  </a:lnTo>
                  <a:lnTo>
                    <a:pt x="8768" y="1248"/>
                  </a:lnTo>
                  <a:lnTo>
                    <a:pt x="9216" y="800"/>
                  </a:lnTo>
                  <a:lnTo>
                    <a:pt x="10112" y="1696"/>
                  </a:lnTo>
                  <a:close/>
                  <a:moveTo>
                    <a:pt x="10240" y="10272"/>
                  </a:moveTo>
                  <a:lnTo>
                    <a:pt x="640" y="10272"/>
                  </a:lnTo>
                  <a:lnTo>
                    <a:pt x="640" y="672"/>
                  </a:lnTo>
                  <a:lnTo>
                    <a:pt x="6720" y="672"/>
                  </a:lnTo>
                  <a:cubicBezTo>
                    <a:pt x="6912" y="672"/>
                    <a:pt x="7040" y="544"/>
                    <a:pt x="7040" y="352"/>
                  </a:cubicBezTo>
                  <a:cubicBezTo>
                    <a:pt x="7040" y="160"/>
                    <a:pt x="6912" y="32"/>
                    <a:pt x="6720" y="32"/>
                  </a:cubicBezTo>
                  <a:lnTo>
                    <a:pt x="320" y="32"/>
                  </a:lnTo>
                  <a:cubicBezTo>
                    <a:pt x="160" y="32"/>
                    <a:pt x="0" y="192"/>
                    <a:pt x="0" y="352"/>
                  </a:cubicBezTo>
                  <a:lnTo>
                    <a:pt x="0" y="10592"/>
                  </a:lnTo>
                  <a:cubicBezTo>
                    <a:pt x="0" y="10752"/>
                    <a:pt x="160" y="10912"/>
                    <a:pt x="320" y="10912"/>
                  </a:cubicBezTo>
                  <a:lnTo>
                    <a:pt x="10560" y="10912"/>
                  </a:lnTo>
                  <a:cubicBezTo>
                    <a:pt x="10720" y="10912"/>
                    <a:pt x="10880" y="10752"/>
                    <a:pt x="10880" y="10592"/>
                  </a:cubicBezTo>
                  <a:lnTo>
                    <a:pt x="10880" y="4192"/>
                  </a:lnTo>
                  <a:cubicBezTo>
                    <a:pt x="10880" y="4000"/>
                    <a:pt x="10752" y="3872"/>
                    <a:pt x="10560" y="3872"/>
                  </a:cubicBezTo>
                  <a:cubicBezTo>
                    <a:pt x="10368" y="3872"/>
                    <a:pt x="10240" y="4000"/>
                    <a:pt x="10240" y="4192"/>
                  </a:cubicBezTo>
                  <a:lnTo>
                    <a:pt x="10240" y="1027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latin typeface="Mona-Sans Black Italic" pitchFamily="2" charset="0"/>
                <a:cs typeface="Mona-Sans Black Italic" pitchFamily="2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C4009C-00D3-9199-A63E-F9FF1503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938" y="-514953"/>
            <a:ext cx="6740144" cy="827472"/>
          </a:xfrm>
        </p:spPr>
        <p:txBody>
          <a:bodyPr>
            <a:noAutofit/>
          </a:bodyPr>
          <a:lstStyle/>
          <a:p>
            <a:r>
              <a:rPr lang="en-US" altLang="zh-CN" sz="2000" b="1" i="1" dirty="0">
                <a:cs typeface="Mona-Sans Black Italic" pitchFamily="2" charset="0"/>
              </a:rPr>
              <a:t>The core issues being addressed are  </a:t>
            </a:r>
            <a:r>
              <a:rPr lang="en-US" altLang="zh-CN" sz="2400" b="1" i="1" dirty="0">
                <a:cs typeface="Mona-Sans Black Italic" pitchFamily="2" charset="0"/>
              </a:rPr>
              <a:t>:</a:t>
            </a:r>
            <a:endParaRPr lang="en-US" sz="2400" b="1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B5EDA-6A0B-9ECB-B868-582E55BBA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51121" y="312519"/>
            <a:ext cx="6740144" cy="4823377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altLang="zh-CN" sz="2000" dirty="0">
                <a:cs typeface="Mona-Sans Black Italic" pitchFamily="2" charset="0"/>
              </a:rPr>
              <a:t> </a:t>
            </a:r>
            <a:r>
              <a:rPr lang="en-US" altLang="zh-CN" sz="2000" b="1" i="1" dirty="0">
                <a:cs typeface="Mona-Sans Black Italic" pitchFamily="2" charset="0"/>
              </a:rPr>
              <a:t>To </a:t>
            </a:r>
            <a:r>
              <a:rPr lang="en-US" altLang="zh-CN" sz="1800" b="1" i="1" dirty="0">
                <a:cs typeface="Mona-Sans Black Italic" pitchFamily="2" charset="0"/>
              </a:rPr>
              <a:t>analyze customer demographics and purchasing behavior Focusing on the 25-34 age group and female customers to target marketing campaigns effectively.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altLang="zh-CN" sz="1800" b="1" i="1" dirty="0">
              <a:cs typeface="Mona-Sans Black Italic" pitchFamily="2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altLang="zh-CN" sz="1800" b="1" i="1" dirty="0">
                <a:cs typeface="Mona-Sans Black Italic" pitchFamily="2" charset="0"/>
              </a:rPr>
              <a:t> To monitor inventory and product performance Identifying low-stock items and best-selling products like Serums to avoid stockouts and maximize revenue.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altLang="zh-CN" sz="1800" b="1" i="1" dirty="0">
              <a:cs typeface="Mona-Sans Black Italic" pitchFamily="2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altLang="zh-CN" sz="1800" b="1" i="1" dirty="0">
                <a:cs typeface="Mona-Sans Black Italic" pitchFamily="2" charset="0"/>
              </a:rPr>
              <a:t> To evaluate regional sales performance Understanding why Maharashtra and Gujarat generate the highest revenue to replicate success in other states.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altLang="zh-CN" sz="1800" b="1" i="1" dirty="0">
              <a:cs typeface="Mona-Sans Black Italic" pitchFamily="2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altLang="zh-CN" sz="1800" b="1" i="1" dirty="0">
                <a:cs typeface="Mona-Sans Black Italic" pitchFamily="2" charset="0"/>
              </a:rPr>
              <a:t> To assess product quality and customer satisfaction Tracking above-average rated reviews to ensure product quality and maintain high satisfaction scores.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altLang="zh-CN" sz="1800" b="1" i="1" dirty="0">
              <a:cs typeface="Mona-Sans Black Italic" pitchFamily="2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altLang="zh-CN" sz="1800" b="1" i="1" dirty="0">
                <a:cs typeface="Mona-Sans Black Italic" pitchFamily="2" charset="0"/>
              </a:rPr>
              <a:t> To improve customer retention and reactivate inactive users With 15 inactive users identified, strategies are needed to convert them into active buyers.    </a:t>
            </a:r>
            <a:br>
              <a:rPr lang="zh-CN" altLang="en-US" sz="1800" b="1" i="1" dirty="0">
                <a:cs typeface="Mona-Sans Black Italic" pitchFamily="2" charset="0"/>
              </a:rPr>
            </a:br>
            <a:r>
              <a:rPr lang="zh-CN" altLang="en-US" sz="1800" b="1" i="1" dirty="0">
                <a:cs typeface="Mona-Sans Black Italic" pitchFamily="2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</a:t>
            </a:r>
            <a:r>
              <a:rPr lang="en-US" altLang="zh-CN" sz="1800" b="1" i="1" dirty="0">
                <a:cs typeface="Mona-Sans Black Italic" pitchFamily="2" charset="0"/>
              </a:rPr>
              <a:t>Thank you.</a:t>
            </a:r>
            <a:endParaRPr 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3789054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640</TotalTime>
  <Words>747</Words>
  <Application>Microsoft Office PowerPoint</Application>
  <PresentationFormat>Widescreen</PresentationFormat>
  <Paragraphs>69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Wingdings</vt:lpstr>
      <vt:lpstr>Aptos</vt:lpstr>
      <vt:lpstr>Mona-Sans Black Italic</vt:lpstr>
      <vt:lpstr>Arial Black</vt:lpstr>
      <vt:lpstr>Aptos Display</vt:lpstr>
      <vt:lpstr>Office Theme</vt:lpstr>
      <vt:lpstr>D2C-SKINCARE-BUSINESS-ANALYTICS</vt:lpstr>
      <vt:lpstr>Project Overview &amp; Business Objectives </vt:lpstr>
      <vt:lpstr>Database Architecture &amp; Schema</vt:lpstr>
      <vt:lpstr>PowerPoint Presentation</vt:lpstr>
      <vt:lpstr>Database Schema</vt:lpstr>
      <vt:lpstr>Initial Data Exploration :Product Catalog </vt:lpstr>
      <vt:lpstr>Question 1: count total numbers of customers.</vt:lpstr>
      <vt:lpstr>QUESTION 2: Display the  Serums  that have highest cost price.</vt:lpstr>
      <vt:lpstr>PowerPoint Presentation</vt:lpstr>
      <vt:lpstr>PowerPoint Presentation</vt:lpstr>
      <vt:lpstr>Question 5 : Count customers by age category.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13 :list all above-average rated product reviews. </vt:lpstr>
      <vt:lpstr> Key Performance Indicator </vt:lpstr>
      <vt:lpstr>The core issues being addressed are 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SANA KHAN</dc:creator>
  <cp:lastModifiedBy>SANA KHAN</cp:lastModifiedBy>
  <cp:revision>2</cp:revision>
  <dcterms:created xsi:type="dcterms:W3CDTF">2026-08-05T22:43:21Z</dcterms:created>
  <dcterms:modified xsi:type="dcterms:W3CDTF">2026-08-08T00:36:19Z</dcterms:modified>
</cp:coreProperties>
</file>